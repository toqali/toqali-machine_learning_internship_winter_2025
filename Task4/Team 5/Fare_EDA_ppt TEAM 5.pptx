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4"/>
  </p:sldMasterIdLst>
  <p:notesMasterIdLst>
    <p:notesMasterId r:id="rId33"/>
  </p:notesMasterIdLst>
  <p:sldIdLst>
    <p:sldId id="256" r:id="rId5"/>
    <p:sldId id="259" r:id="rId6"/>
    <p:sldId id="260" r:id="rId7"/>
    <p:sldId id="261" r:id="rId8"/>
    <p:sldId id="270" r:id="rId9"/>
    <p:sldId id="271" r:id="rId10"/>
    <p:sldId id="272" r:id="rId11"/>
    <p:sldId id="273" r:id="rId12"/>
    <p:sldId id="275" r:id="rId13"/>
    <p:sldId id="274" r:id="rId14"/>
    <p:sldId id="276" r:id="rId15"/>
    <p:sldId id="277" r:id="rId16"/>
    <p:sldId id="278" r:id="rId17"/>
    <p:sldId id="263" r:id="rId18"/>
    <p:sldId id="281" r:id="rId19"/>
    <p:sldId id="279" r:id="rId20"/>
    <p:sldId id="280" r:id="rId21"/>
    <p:sldId id="282" r:id="rId22"/>
    <p:sldId id="268" r:id="rId23"/>
    <p:sldId id="283" r:id="rId24"/>
    <p:sldId id="284" r:id="rId25"/>
    <p:sldId id="269" r:id="rId26"/>
    <p:sldId id="286" r:id="rId27"/>
    <p:sldId id="287" r:id="rId28"/>
    <p:sldId id="288" r:id="rId29"/>
    <p:sldId id="289" r:id="rId30"/>
    <p:sldId id="264" r:id="rId31"/>
    <p:sldId id="267" r:id="rId3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4"/>
    </p:embeddedFont>
    <p:embeddedFont>
      <p:font typeface="Inter" panose="020B0604020202020204" charset="0"/>
      <p:regular r:id="rId35"/>
      <p:bold r:id="rId36"/>
      <p:italic r:id="rId37"/>
      <p:boldItalic r:id="rId38"/>
    </p:embeddedFont>
    <p:embeddedFont>
      <p:font typeface="Passion One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CFE099-E533-46BD-AF1C-EEFB5309138D}">
  <a:tblStyle styleId="{79CFE099-E533-46BD-AF1C-EEFB530913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456" y="-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D50DD02F-E5EC-3D2F-8391-EDDFC9A94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4D2A781F-0E89-834A-776C-A406868EB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AF7C8F45-6E7C-C5C5-EA64-9B8A8B0E7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386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8FF43ED6-2C76-B36B-6731-21DCC5EF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A92C130F-75E1-B749-BA09-39454E5BE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6D7589DD-48AF-F675-6F72-ED4309DA2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206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2225DBB1-A922-47F6-50D2-B207B1E3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8DFB3B38-45A7-1408-DB88-61953FB33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C0359F85-63E6-7E83-86D6-2A98FC5A6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554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6447A69C-54DF-5538-2098-917D7A21E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4B5539C1-C7F0-8CB4-CFB3-E38B09BC8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F2277CA5-D4C2-0152-FF0C-B74F4070E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430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B828D581-696F-4E84-3B56-235D5F03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4312729F-D6C3-E8F0-5415-10C888BED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E522E214-BC2B-615E-2892-D1F1FC4D2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019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>
          <a:extLst>
            <a:ext uri="{FF2B5EF4-FFF2-40B4-BE49-F238E27FC236}">
              <a16:creationId xmlns:a16="http://schemas.microsoft.com/office/drawing/2014/main" id="{C31D19F3-C690-F07D-97F3-69B6665C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eff44cef2_0_1:notes">
            <a:extLst>
              <a:ext uri="{FF2B5EF4-FFF2-40B4-BE49-F238E27FC236}">
                <a16:creationId xmlns:a16="http://schemas.microsoft.com/office/drawing/2014/main" id="{FB94405B-05C2-1508-4759-615D162FA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eff44cef2_0_1:notes">
            <a:extLst>
              <a:ext uri="{FF2B5EF4-FFF2-40B4-BE49-F238E27FC236}">
                <a16:creationId xmlns:a16="http://schemas.microsoft.com/office/drawing/2014/main" id="{1A346CB7-C546-4E12-9187-EA651514A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284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C7FDA072-706F-F4FD-31AA-81E41CE4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551ECA9B-EC87-1041-29DF-580A3071B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CC252B46-21CB-F932-1B50-6417287B8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1886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C3CCBB42-439D-FBFF-4B66-229C8A91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E96D4F6D-58E1-7B9A-1070-AACF5116D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88592CAF-9E2B-5AC6-C70A-F1B853B2C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521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>
          <a:extLst>
            <a:ext uri="{FF2B5EF4-FFF2-40B4-BE49-F238E27FC236}">
              <a16:creationId xmlns:a16="http://schemas.microsoft.com/office/drawing/2014/main" id="{D94509DD-326C-52C6-22F7-E29E88F8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eff44cef2_0_1:notes">
            <a:extLst>
              <a:ext uri="{FF2B5EF4-FFF2-40B4-BE49-F238E27FC236}">
                <a16:creationId xmlns:a16="http://schemas.microsoft.com/office/drawing/2014/main" id="{2C03FF36-9E8D-FAF2-0A44-6A197B043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eff44cef2_0_1:notes">
            <a:extLst>
              <a:ext uri="{FF2B5EF4-FFF2-40B4-BE49-F238E27FC236}">
                <a16:creationId xmlns:a16="http://schemas.microsoft.com/office/drawing/2014/main" id="{3CA40A21-9E47-F55B-AB32-DC79E3597C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1077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F5182046-DEF3-8FDC-B022-073BFDBD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425F414B-154C-0EBE-6F35-21CEE3ADA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6CAF3E7C-1E02-5ED6-769E-BC938A45F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646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07A5DB04-AC80-B6D7-67D0-280D223E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003810C7-5632-EFF8-D2FC-927EA4A50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95FC13B1-8C05-D59D-1124-65073FA32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4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D430A8B5-AC2F-2346-F5B3-C1CBBD84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BBDF31BE-3E3E-7B94-2DD0-752F9AAB9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F091BA8D-8A4E-F53C-1F99-64DBB9B4D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000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E4A3AB5A-386A-B29A-B978-854726BB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310DC5DD-E72A-0A9E-F4A2-1C17AF2A90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5AA78889-4A43-C5CC-741A-36C5C6630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145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F7CE6766-625D-ECDB-329F-0C696BB4C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983C33CB-96C5-9BAE-8705-D7B59B03B3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319F5C3A-6E08-1627-97BB-B0B3A2542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672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25FE0D3D-479E-1D1D-8B7D-83059782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3198B93F-7F99-2E10-79AE-ACECCB7A8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315136E6-7EAD-8BE4-1971-397883B01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089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3FB5235C-92F1-8FE7-3D0D-B9A7BE3B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586EB2EC-0605-DA20-20FA-411FCE605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BF7426C1-02F3-5845-B911-8850E5710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332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>
          <a:extLst>
            <a:ext uri="{FF2B5EF4-FFF2-40B4-BE49-F238E27FC236}">
              <a16:creationId xmlns:a16="http://schemas.microsoft.com/office/drawing/2014/main" id="{5B291109-DCEC-E227-FC7F-67563146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>
            <a:extLst>
              <a:ext uri="{FF2B5EF4-FFF2-40B4-BE49-F238E27FC236}">
                <a16:creationId xmlns:a16="http://schemas.microsoft.com/office/drawing/2014/main" id="{3AD66CD2-0FBB-9DB4-A4F3-38E0DCCA97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>
            <a:extLst>
              <a:ext uri="{FF2B5EF4-FFF2-40B4-BE49-F238E27FC236}">
                <a16:creationId xmlns:a16="http://schemas.microsoft.com/office/drawing/2014/main" id="{AD525186-A9C8-A041-65D1-286C8BDE1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7256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eff44cef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eff44cef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545187" y="2539113"/>
            <a:ext cx="2909077" cy="290907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7073900" y="4334213"/>
            <a:ext cx="2909077" cy="290907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90650" y="-73963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488469" y="99066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431847" y="3177967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8734960" y="342095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rot="-2700000">
            <a:off x="8734956" y="4708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 rot="-2700000">
            <a:off x="3258027" y="2948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-2700000">
            <a:off x="2091794" y="46543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-2700000">
            <a:off x="266135" y="18944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495722" y="171242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5548472" y="4814317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814850" y="1577788"/>
            <a:ext cx="5514300" cy="17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2430150" y="3547500"/>
            <a:ext cx="4283700" cy="4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 idx="2"/>
          </p:nvPr>
        </p:nvSpPr>
        <p:spPr>
          <a:xfrm>
            <a:off x="6938575" y="552675"/>
            <a:ext cx="1492200" cy="450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-1626298" y="2598094"/>
            <a:ext cx="3114423" cy="3114423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191750" y="-13688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59972" y="7434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-2700000">
            <a:off x="4446660" y="20412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2700000">
            <a:off x="8603477" y="25031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-2700000">
            <a:off x="2404760" y="476165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 rot="-2700000">
            <a:off x="6853619" y="463243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848072" y="43967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3151900" y="1636350"/>
            <a:ext cx="4150500" cy="130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475300" y="1690000"/>
            <a:ext cx="1294500" cy="90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"/>
          </p:nvPr>
        </p:nvSpPr>
        <p:spPr>
          <a:xfrm>
            <a:off x="3151900" y="3080475"/>
            <a:ext cx="3124800" cy="693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-752503" y="-740378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 rot="5400000">
            <a:off x="7832550" y="4153000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 rot="-2700000">
            <a:off x="8650260" y="50555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 rot="-2700000">
            <a:off x="8806494" y="31366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227347" y="26846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 rot="-2700000">
            <a:off x="1901219" y="48340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 rot="-2700000">
            <a:off x="4190627" y="2161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>
            <a:spLocks noGrp="1"/>
          </p:cNvSpPr>
          <p:nvPr>
            <p:ph type="title"/>
          </p:nvPr>
        </p:nvSpPr>
        <p:spPr>
          <a:xfrm>
            <a:off x="4280550" y="826000"/>
            <a:ext cx="3936300" cy="115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1"/>
          </p:nvPr>
        </p:nvSpPr>
        <p:spPr>
          <a:xfrm>
            <a:off x="4280550" y="2093200"/>
            <a:ext cx="3936300" cy="22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7"/>
          <p:cNvSpPr>
            <a:spLocks noGrp="1"/>
          </p:cNvSpPr>
          <p:nvPr>
            <p:ph type="pic" idx="2"/>
          </p:nvPr>
        </p:nvSpPr>
        <p:spPr>
          <a:xfrm>
            <a:off x="726450" y="539500"/>
            <a:ext cx="3232800" cy="4064400"/>
          </a:xfrm>
          <a:prstGeom prst="round1Rect">
            <a:avLst>
              <a:gd name="adj" fmla="val 2425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>
            <a:spLocks noGrp="1"/>
          </p:cNvSpPr>
          <p:nvPr>
            <p:ph type="subTitle" idx="1"/>
          </p:nvPr>
        </p:nvSpPr>
        <p:spPr>
          <a:xfrm>
            <a:off x="720075" y="1229900"/>
            <a:ext cx="4149300" cy="26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ubTitle" idx="2"/>
          </p:nvPr>
        </p:nvSpPr>
        <p:spPr>
          <a:xfrm>
            <a:off x="5258200" y="1229900"/>
            <a:ext cx="3165900" cy="3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-1066000" y="4148624"/>
            <a:ext cx="2318705" cy="2318705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 rot="-2700000">
            <a:off x="8725469" y="453535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 rot="5400000">
            <a:off x="7832400" y="51681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 rot="-2700000">
            <a:off x="248002" y="22297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3253647" y="48010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-1253581" y="-1661857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 rot="-2700000">
            <a:off x="2499794" y="1318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 rot="5400000">
            <a:off x="7838850" y="240056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-440256" y="473636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 rot="-2700000">
            <a:off x="6590706" y="2449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 rot="-2700000">
            <a:off x="380690" y="47085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 rot="-2700000">
            <a:off x="225873" y="37711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 rot="-2700000">
            <a:off x="5154256" y="48552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8680385" y="16892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subTitle" idx="1"/>
          </p:nvPr>
        </p:nvSpPr>
        <p:spPr>
          <a:xfrm>
            <a:off x="4938050" y="2727754"/>
            <a:ext cx="3346200" cy="8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3780475" y="1545650"/>
            <a:ext cx="465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2"/>
          </p:nvPr>
        </p:nvSpPr>
        <p:spPr>
          <a:xfrm>
            <a:off x="3780475" y="1212500"/>
            <a:ext cx="4650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subTitle" idx="3"/>
          </p:nvPr>
        </p:nvSpPr>
        <p:spPr>
          <a:xfrm>
            <a:off x="3780475" y="2716013"/>
            <a:ext cx="465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3780475" y="2382863"/>
            <a:ext cx="4650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780475" y="3886375"/>
            <a:ext cx="465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3780475" y="3553225"/>
            <a:ext cx="4650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-1159675" y="3421300"/>
            <a:ext cx="2592501" cy="2592501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591750" y="-412263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 rot="-2700000">
            <a:off x="8806072" y="412724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 rot="-2700000">
            <a:off x="8737815" y="5679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 rot="-2700000">
            <a:off x="2888948" y="47421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 rot="-2700000">
            <a:off x="180556" y="2793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46285" y="22530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22"/>
          <p:cNvGrpSpPr/>
          <p:nvPr/>
        </p:nvGrpSpPr>
        <p:grpSpPr>
          <a:xfrm>
            <a:off x="4121021" y="-456934"/>
            <a:ext cx="901968" cy="901968"/>
            <a:chOff x="1350404" y="-3124999"/>
            <a:chExt cx="1570279" cy="1570279"/>
          </a:xfrm>
        </p:grpSpPr>
        <p:sp>
          <p:nvSpPr>
            <p:cNvPr id="251" name="Google Shape;251;p22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>
            <a:spLocks noGrp="1"/>
          </p:cNvSpPr>
          <p:nvPr>
            <p:ph type="subTitle" idx="1"/>
          </p:nvPr>
        </p:nvSpPr>
        <p:spPr>
          <a:xfrm>
            <a:off x="719975" y="154735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subTitle" idx="2"/>
          </p:nvPr>
        </p:nvSpPr>
        <p:spPr>
          <a:xfrm>
            <a:off x="719975" y="120850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subTitle" idx="3"/>
          </p:nvPr>
        </p:nvSpPr>
        <p:spPr>
          <a:xfrm>
            <a:off x="719975" y="2715875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4"/>
          </p:nvPr>
        </p:nvSpPr>
        <p:spPr>
          <a:xfrm>
            <a:off x="719975" y="2377025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subTitle" idx="5"/>
          </p:nvPr>
        </p:nvSpPr>
        <p:spPr>
          <a:xfrm>
            <a:off x="719975" y="388440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6"/>
          </p:nvPr>
        </p:nvSpPr>
        <p:spPr>
          <a:xfrm>
            <a:off x="719975" y="354555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subTitle" idx="7"/>
          </p:nvPr>
        </p:nvSpPr>
        <p:spPr>
          <a:xfrm>
            <a:off x="4699375" y="154735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4"/>
          <p:cNvSpPr txBox="1">
            <a:spLocks noGrp="1"/>
          </p:cNvSpPr>
          <p:nvPr>
            <p:ph type="subTitle" idx="8"/>
          </p:nvPr>
        </p:nvSpPr>
        <p:spPr>
          <a:xfrm>
            <a:off x="4699375" y="120850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1" name="Google Shape;291;p24"/>
          <p:cNvSpPr txBox="1">
            <a:spLocks noGrp="1"/>
          </p:cNvSpPr>
          <p:nvPr>
            <p:ph type="subTitle" idx="9"/>
          </p:nvPr>
        </p:nvSpPr>
        <p:spPr>
          <a:xfrm>
            <a:off x="4699375" y="2715875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4"/>
          <p:cNvSpPr txBox="1">
            <a:spLocks noGrp="1"/>
          </p:cNvSpPr>
          <p:nvPr>
            <p:ph type="subTitle" idx="13"/>
          </p:nvPr>
        </p:nvSpPr>
        <p:spPr>
          <a:xfrm>
            <a:off x="4699375" y="2377025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24"/>
          <p:cNvSpPr txBox="1">
            <a:spLocks noGrp="1"/>
          </p:cNvSpPr>
          <p:nvPr>
            <p:ph type="subTitle" idx="14"/>
          </p:nvPr>
        </p:nvSpPr>
        <p:spPr>
          <a:xfrm>
            <a:off x="4699375" y="388440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4"/>
          <p:cNvSpPr txBox="1">
            <a:spLocks noGrp="1"/>
          </p:cNvSpPr>
          <p:nvPr>
            <p:ph type="subTitle" idx="15"/>
          </p:nvPr>
        </p:nvSpPr>
        <p:spPr>
          <a:xfrm>
            <a:off x="4699375" y="354555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24"/>
          <p:cNvSpPr/>
          <p:nvPr/>
        </p:nvSpPr>
        <p:spPr>
          <a:xfrm rot="-5400000">
            <a:off x="-889950" y="395136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8093184" y="-996666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 rot="-2700000">
            <a:off x="8833547" y="448552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 rot="-2700000">
            <a:off x="644581" y="2270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 rot="-2700000">
            <a:off x="4914890" y="48163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 rot="-2700000">
            <a:off x="240098" y="33170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 rot="-2700000">
            <a:off x="8639406" y="21484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608360" y="1986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>
            <a:off x="-753977" y="3910975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295975" y="4188655"/>
            <a:ext cx="1694813" cy="830678"/>
            <a:chOff x="-215300" y="3851305"/>
            <a:chExt cx="1694813" cy="830678"/>
          </a:xfrm>
        </p:grpSpPr>
        <p:sp>
          <p:nvSpPr>
            <p:cNvPr id="321" name="Google Shape;321;p26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2" name="Google Shape;322;p26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323" name="Google Shape;323;p26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6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6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" name="Google Shape;326;p26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6"/>
          <p:cNvSpPr/>
          <p:nvPr/>
        </p:nvSpPr>
        <p:spPr>
          <a:xfrm rot="-2700000">
            <a:off x="7679247" y="1832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 rot="-2700000">
            <a:off x="422294" y="56792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 rot="-2700000">
            <a:off x="8760102" y="35938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 rot="-2700000">
            <a:off x="228123" y="30408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 rot="-2700000">
            <a:off x="4242256" y="47461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3199535" y="1921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26"/>
          <p:cNvGrpSpPr/>
          <p:nvPr/>
        </p:nvGrpSpPr>
        <p:grpSpPr>
          <a:xfrm>
            <a:off x="8430783" y="1741366"/>
            <a:ext cx="901968" cy="901968"/>
            <a:chOff x="1350404" y="-3124999"/>
            <a:chExt cx="1570279" cy="1570279"/>
          </a:xfrm>
        </p:grpSpPr>
        <p:sp>
          <p:nvSpPr>
            <p:cNvPr id="351" name="Google Shape;351;p26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26"/>
          <p:cNvSpPr/>
          <p:nvPr/>
        </p:nvSpPr>
        <p:spPr>
          <a:xfrm>
            <a:off x="4407973" y="-1942300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8146410" y="47549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/>
          <p:nvPr/>
        </p:nvSpPr>
        <p:spPr>
          <a:xfrm>
            <a:off x="7128375" y="0"/>
            <a:ext cx="2517166" cy="1088852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27"/>
          <p:cNvGrpSpPr/>
          <p:nvPr/>
        </p:nvGrpSpPr>
        <p:grpSpPr>
          <a:xfrm>
            <a:off x="7650716" y="539506"/>
            <a:ext cx="1022136" cy="829949"/>
            <a:chOff x="7329141" y="362469"/>
            <a:chExt cx="1022136" cy="829949"/>
          </a:xfrm>
        </p:grpSpPr>
        <p:sp>
          <p:nvSpPr>
            <p:cNvPr id="360" name="Google Shape;360;p27"/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" name="Google Shape;362;p27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363" name="Google Shape;363;p27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5" name="Google Shape;365;p27"/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27"/>
          <p:cNvSpPr/>
          <p:nvPr/>
        </p:nvSpPr>
        <p:spPr>
          <a:xfrm>
            <a:off x="6005759" y="4604009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 rot="-2700000">
            <a:off x="547497" y="24057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 rot="-2700000">
            <a:off x="3740631" y="47064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 rot="-2700000">
            <a:off x="4869215" y="2405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 rot="-2700000">
            <a:off x="249023" y="41930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 rot="-2700000">
            <a:off x="8701281" y="20575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8370935" y="47152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-141118" y="4603993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-1383791" y="1516059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1442285" y="1832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59" r:id="rId6"/>
    <p:sldLayoutId id="2147483665" r:id="rId7"/>
    <p:sldLayoutId id="2147483668" r:id="rId8"/>
    <p:sldLayoutId id="2147483670" r:id="rId9"/>
    <p:sldLayoutId id="2147483672" r:id="rId10"/>
    <p:sldLayoutId id="214748367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"/>
          <p:cNvSpPr txBox="1">
            <a:spLocks noGrp="1"/>
          </p:cNvSpPr>
          <p:nvPr>
            <p:ph type="ctrTitle"/>
          </p:nvPr>
        </p:nvSpPr>
        <p:spPr>
          <a:xfrm>
            <a:off x="1814850" y="1577788"/>
            <a:ext cx="5514300" cy="17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Exploratory Data Analysis (EDA)</a:t>
            </a:r>
            <a:endParaRPr dirty="0"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1"/>
          </p:nvPr>
        </p:nvSpPr>
        <p:spPr>
          <a:xfrm>
            <a:off x="2430150" y="3547500"/>
            <a:ext cx="4283700" cy="111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deep dive into fare trends and insights</a:t>
            </a:r>
            <a:br>
              <a:rPr lang="en-GB" dirty="0"/>
            </a:br>
            <a:r>
              <a:rPr lang="en-GB" dirty="0"/>
              <a:t>Made By: Mohammed Yasser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Zeina Ahmed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Mayar Adel</a:t>
            </a:r>
          </a:p>
        </p:txBody>
      </p:sp>
      <p:grpSp>
        <p:nvGrpSpPr>
          <p:cNvPr id="396" name="Google Shape;396;p31"/>
          <p:cNvGrpSpPr/>
          <p:nvPr/>
        </p:nvGrpSpPr>
        <p:grpSpPr>
          <a:xfrm>
            <a:off x="8118467" y="4032000"/>
            <a:ext cx="1098804" cy="732535"/>
            <a:chOff x="8118467" y="4032000"/>
            <a:chExt cx="1098804" cy="732535"/>
          </a:xfrm>
        </p:grpSpPr>
        <p:sp>
          <p:nvSpPr>
            <p:cNvPr id="397" name="Google Shape;397;p31"/>
            <p:cNvSpPr/>
            <p:nvPr/>
          </p:nvSpPr>
          <p:spPr>
            <a:xfrm>
              <a:off x="8118467" y="4032000"/>
              <a:ext cx="183134" cy="183133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8118467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8118467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8118467" y="4581402"/>
              <a:ext cx="183134" cy="183079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8301601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8301601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8301601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8301601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8484735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8484735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8484735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8484735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8667869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8667869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8667869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8667869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8851003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8851003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8851003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8851003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9034137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9034137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9034137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9034082" y="4581402"/>
              <a:ext cx="183133" cy="183079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8273696" y="4184110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8368300" y="427510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8588258" y="4076429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8456830" y="4433997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8726908" y="4658168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8518057" y="437036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8170393" y="4076429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8456830" y="429354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8368300" y="4378844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8202566" y="446190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8174660" y="461713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8273696" y="4321447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8919671" y="424725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31"/>
          <p:cNvGrpSpPr/>
          <p:nvPr/>
        </p:nvGrpSpPr>
        <p:grpSpPr>
          <a:xfrm>
            <a:off x="1062846" y="290916"/>
            <a:ext cx="901968" cy="901968"/>
            <a:chOff x="1350404" y="-3124999"/>
            <a:chExt cx="1570279" cy="1570279"/>
          </a:xfrm>
        </p:grpSpPr>
        <p:sp>
          <p:nvSpPr>
            <p:cNvPr id="435" name="Google Shape;435;p31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31"/>
          <p:cNvGrpSpPr/>
          <p:nvPr/>
        </p:nvGrpSpPr>
        <p:grpSpPr>
          <a:xfrm>
            <a:off x="7118825" y="332168"/>
            <a:ext cx="1022706" cy="830413"/>
            <a:chOff x="7329141" y="362469"/>
            <a:chExt cx="1022706" cy="830413"/>
          </a:xfrm>
        </p:grpSpPr>
        <p:sp>
          <p:nvSpPr>
            <p:cNvPr id="441" name="Google Shape;441;p31"/>
            <p:cNvSpPr/>
            <p:nvPr/>
          </p:nvSpPr>
          <p:spPr>
            <a:xfrm>
              <a:off x="7329141" y="362469"/>
              <a:ext cx="1022706" cy="830413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7479397" y="507863"/>
              <a:ext cx="275878" cy="490191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" name="Google Shape;443;p31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444" name="Google Shape;444;p31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31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6" name="Google Shape;446;p31"/>
            <p:cNvSpPr/>
            <p:nvPr/>
          </p:nvSpPr>
          <p:spPr>
            <a:xfrm>
              <a:off x="7755275" y="507863"/>
              <a:ext cx="222402" cy="439126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7918481" y="577354"/>
              <a:ext cx="207735" cy="40730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7986379" y="855683"/>
              <a:ext cx="207735" cy="40730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8078706" y="664248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8078706" y="691415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8078706" y="718541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8078706" y="946989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8078706" y="974156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8078706" y="1001323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31"/>
          <p:cNvGrpSpPr/>
          <p:nvPr/>
        </p:nvGrpSpPr>
        <p:grpSpPr>
          <a:xfrm>
            <a:off x="-215300" y="3851305"/>
            <a:ext cx="1694813" cy="830678"/>
            <a:chOff x="-215300" y="3851305"/>
            <a:chExt cx="1694813" cy="830678"/>
          </a:xfrm>
        </p:grpSpPr>
        <p:sp>
          <p:nvSpPr>
            <p:cNvPr id="456" name="Google Shape;456;p31"/>
            <p:cNvSpPr/>
            <p:nvPr/>
          </p:nvSpPr>
          <p:spPr>
            <a:xfrm>
              <a:off x="861887" y="3947362"/>
              <a:ext cx="215268" cy="422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7" name="Google Shape;457;p31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458" name="Google Shape;458;p31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31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31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1" name="Google Shape;461;p31"/>
            <p:cNvSpPr/>
            <p:nvPr/>
          </p:nvSpPr>
          <p:spPr>
            <a:xfrm>
              <a:off x="-85801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294020" y="4210340"/>
              <a:ext cx="105708" cy="471388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483972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1053745" y="4472133"/>
              <a:ext cx="105708" cy="209553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1243698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-32968" y="4087783"/>
              <a:ext cx="1329498" cy="42016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-61417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128536" y="4354614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318446" y="418938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508356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698309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893172" y="4336368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1078172" y="4457909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1268082" y="4046253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4"/>
          <p:cNvSpPr txBox="1">
            <a:spLocks noGrp="1"/>
          </p:cNvSpPr>
          <p:nvPr>
            <p:ph type="subTitle" idx="1"/>
          </p:nvPr>
        </p:nvSpPr>
        <p:spPr>
          <a:xfrm>
            <a:off x="1132816" y="1130555"/>
            <a:ext cx="7704000" cy="3189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This project aims to </a:t>
            </a:r>
            <a:r>
              <a:rPr lang="en-GB" sz="2000" dirty="0" err="1"/>
              <a:t>analyze</a:t>
            </a:r>
            <a:r>
              <a:rPr lang="en-GB" sz="2000" dirty="0"/>
              <a:t> fare data to identify trends, patterns, and insights.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Key aspects covered include data structure, missing values, distributions, and correlations.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goal is to understand factors influencing fares and gain actionable insights.</a:t>
            </a:r>
            <a:endParaRPr sz="2000" dirty="0"/>
          </a:p>
        </p:txBody>
      </p:sp>
      <p:sp>
        <p:nvSpPr>
          <p:cNvPr id="557" name="Google Shape;557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grpSp>
        <p:nvGrpSpPr>
          <p:cNvPr id="559" name="Google Shape;559;p34"/>
          <p:cNvGrpSpPr/>
          <p:nvPr/>
        </p:nvGrpSpPr>
        <p:grpSpPr>
          <a:xfrm>
            <a:off x="350755" y="4018677"/>
            <a:ext cx="902056" cy="901976"/>
            <a:chOff x="4246593" y="503852"/>
            <a:chExt cx="902056" cy="901976"/>
          </a:xfrm>
        </p:grpSpPr>
        <p:grpSp>
          <p:nvGrpSpPr>
            <p:cNvPr id="560" name="Google Shape;560;p34"/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561" name="Google Shape;561;p34"/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34"/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3" name="Google Shape;563;p34"/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5" name="Google Shape;565;p34"/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566" name="Google Shape;566;p34"/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34"/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34"/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35"/>
          <p:cNvGrpSpPr/>
          <p:nvPr/>
        </p:nvGrpSpPr>
        <p:grpSpPr>
          <a:xfrm>
            <a:off x="7783346" y="490666"/>
            <a:ext cx="901968" cy="901968"/>
            <a:chOff x="1350404" y="-3124999"/>
            <a:chExt cx="1570279" cy="1570279"/>
          </a:xfrm>
        </p:grpSpPr>
        <p:sp>
          <p:nvSpPr>
            <p:cNvPr id="577" name="Google Shape;577;p35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5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557;p34">
            <a:extLst>
              <a:ext uri="{FF2B5EF4-FFF2-40B4-BE49-F238E27FC236}">
                <a16:creationId xmlns:a16="http://schemas.microsoft.com/office/drawing/2014/main" id="{7AB10FD4-B9F0-4BFF-460C-5573A8BFF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0027" y="24887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/>
              <a:t>Dataset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830AA-0E7D-F27F-7A03-280923928176}"/>
              </a:ext>
            </a:extLst>
          </p:cNvPr>
          <p:cNvSpPr txBox="1"/>
          <p:nvPr/>
        </p:nvSpPr>
        <p:spPr>
          <a:xfrm>
            <a:off x="828182" y="1000644"/>
            <a:ext cx="83705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Total Rows: 500000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Total Columns: 26</a:t>
            </a:r>
          </a:p>
          <a:p>
            <a:endParaRPr lang="en-GB" sz="20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Key Features: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Fare Amount: The total fare charged for the trip.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Distance: The distance travelled.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Pickup Time: The timestamp when the trip started.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ACD384-E09A-40D6-1FD9-662BDF0C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89" y="3304756"/>
            <a:ext cx="6827621" cy="1714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3476" r="23470"/>
          <a:stretch/>
        </p:blipFill>
        <p:spPr>
          <a:xfrm>
            <a:off x="-726964" y="653137"/>
            <a:ext cx="3232800" cy="4064400"/>
          </a:xfrm>
          <a:prstGeom prst="round1Rect">
            <a:avLst>
              <a:gd name="adj" fmla="val 16667"/>
            </a:avLst>
          </a:prstGeom>
        </p:spPr>
      </p:pic>
      <p:sp>
        <p:nvSpPr>
          <p:cNvPr id="604" name="Google Shape;604;p36"/>
          <p:cNvSpPr txBox="1">
            <a:spLocks noGrp="1"/>
          </p:cNvSpPr>
          <p:nvPr>
            <p:ph type="title"/>
          </p:nvPr>
        </p:nvSpPr>
        <p:spPr>
          <a:xfrm>
            <a:off x="3967744" y="669011"/>
            <a:ext cx="4512320" cy="737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 &amp; Missing Values</a:t>
            </a:r>
            <a:endParaRPr dirty="0"/>
          </a:p>
        </p:txBody>
      </p:sp>
      <p:grpSp>
        <p:nvGrpSpPr>
          <p:cNvPr id="606" name="Google Shape;606;p36"/>
          <p:cNvGrpSpPr/>
          <p:nvPr/>
        </p:nvGrpSpPr>
        <p:grpSpPr>
          <a:xfrm>
            <a:off x="7119299" y="4563938"/>
            <a:ext cx="1360765" cy="666952"/>
            <a:chOff x="-215300" y="3851305"/>
            <a:chExt cx="1694813" cy="830678"/>
          </a:xfrm>
        </p:grpSpPr>
        <p:sp>
          <p:nvSpPr>
            <p:cNvPr id="607" name="Google Shape;607;p36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" name="Google Shape;608;p36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609" name="Google Shape;609;p36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6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36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2" name="Google Shape;612;p36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94D858F-1675-B38A-E3AF-350065DF33D0}"/>
              </a:ext>
            </a:extLst>
          </p:cNvPr>
          <p:cNvSpPr txBox="1"/>
          <p:nvPr/>
        </p:nvSpPr>
        <p:spPr>
          <a:xfrm>
            <a:off x="2731008" y="1721159"/>
            <a:ext cx="62057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 Missing Data: Some columns contain NULL values.</a:t>
            </a:r>
          </a:p>
          <a:p>
            <a:endParaRPr lang="en-GB" sz="20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 Approach: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 Drop rows with excessive missing values.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 Fill missing values using the median/mode for numerical/categorical data.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1"/>
                </a:solidFill>
              </a:rPr>
              <a:t> Convert data types for better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74EE-4207-E976-4C4F-CEA1DA9C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0" y="1590630"/>
            <a:ext cx="4150500" cy="1302300"/>
          </a:xfrm>
        </p:spPr>
        <p:txBody>
          <a:bodyPr/>
          <a:lstStyle/>
          <a:p>
            <a:r>
              <a:rPr lang="en-US" dirty="0"/>
              <a:t>Univariate Analysis</a:t>
            </a:r>
            <a:endParaRPr lang="fr-FR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6A852BD-76CF-C34F-039C-04138ECFD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Studying each feature individually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582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C7DB-1F4D-4CBA-BC80-54DC33B4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1446-808C-F220-A114-B2396044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0" y="1590630"/>
            <a:ext cx="4150500" cy="1302300"/>
          </a:xfrm>
        </p:spPr>
        <p:txBody>
          <a:bodyPr/>
          <a:lstStyle/>
          <a:p>
            <a:r>
              <a:rPr lang="en-US" dirty="0"/>
              <a:t>Categorical Features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007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810C723C-C4AE-9ECD-7E74-F16093C0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AC290EC0-CD18-5981-A47C-CB8B703CC7C8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3F9971A9-3361-4A9C-9284-8364EC2C4856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13ED214D-3F53-3EDF-BA3D-A03FABA1C718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C7E2C1DD-A008-BB48-3E94-AF4112C9D2BB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A2500BBE-8404-50BD-8DD0-ADB368CD5043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E25124F2-0132-5488-5A8C-6D1157122AA4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B2DF6B4D-07A7-36F7-0EE3-93A3BBF9B4D7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813A2F6E-0D52-B701-DDB0-D205FC972BB4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836E6960-64C6-12A2-6EF4-2AACF5029525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9F2E62A0-F68D-4FDD-B694-96C27CA157F9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F844F5F0-7126-B13C-2B31-2C29FBC5DFB3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9B9B0580-6396-9721-9182-52B39346C7B5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32301E13-AD94-5E66-31C0-5BF71278B4A4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0DB5A836-971A-4091-B2B8-09AAF36AFC13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DAB0EF2B-5F29-D767-F7A4-0D7769172660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CC23F5EA-B8D6-8BA5-F9AE-555DF0FE4DA4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2F02B7C6-D350-CD28-6BD2-782E3914AB37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DA4D10EB-432C-BE4A-091B-50150AB39F3A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86B345E1-67CD-B0E3-9407-AED56EEFC33D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7A24E2F5-9D8D-1CDD-8F82-48186DD60A39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66A87C90-F226-EC59-62AF-E7C91B64FA83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2932AC73-E970-2903-3043-A8F5FD2A9098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AEAA8662-7358-14DE-C9F2-815795A83770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E5B80A5C-A262-5201-48F1-AF4225680976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2902B5A4-1032-37DE-7DED-E4478350B93E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54A2B9D0-CE95-A503-8BAC-D6233555D2D0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E74DE2A5-C5BF-657A-4893-7088EC099A74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A0FD1864-9F7F-E37F-76CF-8036DDB44BD7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BE730678-7B03-07E7-B8FF-CBEE1F0B63BC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F64BE8AF-EE01-6D69-09A0-E7C3F19EF2A3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F2DC900B-BD00-ACEC-B4B9-9A2C63D0F7E0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A85A9AC8-5CC2-0540-2FAF-53483C71504C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424CA645-F0F1-AEB5-D5F9-FB2EA84B4FB6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6D5EA001-F570-9EC5-691B-715DBFC39B5D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BABACBD6-0377-62E5-BEE6-793C9AEFE1CE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5EF57B6A-EF2A-1149-C73A-1D41E7997533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D3912F48-FB5D-0A9A-248F-C6160842D806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35BD58D0-DB4D-1909-323B-4FEA71C50540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B7F0F0DA-9298-8C76-8A90-13FC4C384AC2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AA861709-2E20-47DD-EF95-93D29F72FBE7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70148C0-8124-3552-ECA3-C87881DD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features has a nearly uniform distribution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48568-1027-702C-CC19-1D08F935E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66" y="1113965"/>
            <a:ext cx="2742835" cy="1851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8A68E7-A0C6-F588-A72F-EAB3E38CD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359" y="1122313"/>
            <a:ext cx="2682525" cy="1758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A1470B-2A35-9B3E-14C7-2C7F9BADC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044" y="2904383"/>
            <a:ext cx="2905031" cy="20769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A693E7-5B97-5ECD-2337-966C7742E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472" y="1133907"/>
            <a:ext cx="2806839" cy="17914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31A5C81-5CF3-C995-644F-80AECAD46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626" y="2917133"/>
            <a:ext cx="3255260" cy="205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22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D958CC87-07FE-66BD-33C8-E38597D5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A2DE9647-B8D1-84C4-3B19-F50C0CDC8A83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A1527C95-8FA1-0150-CCAC-E17A0D7A0D04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97F2D8EE-F155-5801-D14E-0F69E946A7FE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F759295-DB04-32F8-DC97-D6D90AA4F3D8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7740E4DB-048F-FDFE-D2FB-B6E5D2E9964B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C003811C-FAFF-3B05-2897-D0627C81F278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CAA2682D-072F-95F6-0FDC-1529FB5CE9EC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22D3B239-60E3-A992-17E9-DA419EC5CD02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A9D12EC4-07C3-A725-7F97-755B1D2FB30B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AC76DF71-01B8-8356-6BDA-0FAA2D76EF37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235DDC84-DF7B-8EAC-1767-87979CF90853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94CD5C3A-6F4C-AC4E-A8D7-5E4C34B605AC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4B3AD98B-5B8D-2AE8-F8BB-8B13B29A72A5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F28A3734-EFD7-FCBC-94D3-039B9CB4708F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7DF077C3-B88B-C4AC-8E27-2E23051ED558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E18441D2-3598-5504-AE6B-2C99C15D1B2D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1F321418-411D-0464-E752-B3A9C43F461E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8CE6D6FA-3F0A-2950-3E81-57F5DF748B8B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FE731A50-4A43-0833-C2D1-F5B70EDFEAEC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F407EDE4-209A-2B7E-2010-5F13FA850B73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40ACBEA3-7240-50B0-EE25-234B4C349DFF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9D3E4A79-C286-A31D-74B2-90A059FA9AEF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EAECCB40-7B49-3A38-0C79-CEF0E611F1E5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20865EB0-C86E-D79C-1A03-EC69B8C97E37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CEE64E4D-702A-4884-C3AA-4CE409B31E98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90A1AB8D-43C6-EED0-66E8-B3DA08C960AF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F7A4286D-4B87-6357-D24F-29BE0FEB65F7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CC46E381-597C-F5D2-8BC0-E2E94D202C5C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AF7EEE9A-B740-72E6-B5CE-8ECE323C69CE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88DC74F1-7D61-8B52-9AB4-096B81B1F5F4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5A14B13F-40BF-3EAF-A028-2DB5D8A8C512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FFC0E86A-42CA-AFDA-352F-D70BF96C8E9E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801C91B0-B515-E9CB-66ED-D42664A64819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8239185B-FB4F-4496-A929-C688812B8347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0AFEFA2C-195E-2C52-9F5E-834F70929F6B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E4CA6ABB-E5EE-B4A0-C925-31C721FA584F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169520E4-A631-461A-CAEC-940C9BA95C46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EC1437D6-9C31-B161-2E12-E5476062C2C9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28229F87-A390-D832-973D-37B80272DB79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235C722B-DB88-F463-2781-7A9899CC5060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91A1121-234C-500F-667C-1BD5B66E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6468719" cy="572700"/>
          </a:xfrm>
        </p:spPr>
        <p:txBody>
          <a:bodyPr/>
          <a:lstStyle/>
          <a:p>
            <a:r>
              <a:rPr lang="en-US" dirty="0"/>
              <a:t>Might need resampling to compensate the smaller values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43619-EF2F-CAB7-C567-49BBEB13C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" y="1469646"/>
            <a:ext cx="4321006" cy="2751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CBEFC-24C4-49D8-6880-BC0E7927A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60" y="1503638"/>
            <a:ext cx="4165223" cy="271603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074400-8376-D6F7-E3B2-76E8A8BF864C}"/>
              </a:ext>
            </a:extLst>
          </p:cNvPr>
          <p:cNvCxnSpPr/>
          <p:nvPr/>
        </p:nvCxnSpPr>
        <p:spPr>
          <a:xfrm flipH="1" flipV="1">
            <a:off x="4286250" y="4041722"/>
            <a:ext cx="521710" cy="5456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E78748-13C6-34B9-6529-A1BF29CC5294}"/>
              </a:ext>
            </a:extLst>
          </p:cNvPr>
          <p:cNvCxnSpPr>
            <a:cxnSpLocks/>
          </p:cNvCxnSpPr>
          <p:nvPr/>
        </p:nvCxnSpPr>
        <p:spPr>
          <a:xfrm flipV="1">
            <a:off x="8116914" y="4084033"/>
            <a:ext cx="479998" cy="570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70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30A70C17-7938-D91F-AD73-DC83C66F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7D32AD7B-CBC3-1E07-D70E-A59235928598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1B06D184-EE87-5965-AAA5-0A67BB15F79F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ACC3793A-793E-1416-8978-1A5620D649FE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0749D3A-62A2-9479-3E2D-F11FF95F0357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C191311-A3EF-8695-A2AF-FD722FEC4C8D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A3A05EC2-25B5-6BB9-A4E4-0478061AB029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70A9B228-EC66-6B9C-A684-C56E4761CBCF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D21DC2CB-B79C-B853-02CA-2F9AB85F6AE1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14395DD3-F717-48F8-3587-C9C8780E6700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EA22C153-2B31-2C60-1496-896EA715E7A0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41FA2EC4-BB7D-D55A-5B27-03B04BB20219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9E87D6A2-6519-358F-355C-0CC80DB6D606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168459D2-FC58-4761-4F0C-F8382CA023A0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90D33ED5-1A70-D1E4-A524-8479EA317AE8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309185D1-195E-1F08-647F-1881BFC0274C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C3A4FF67-BD94-D287-9AEB-623BFF3D7037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8C4BD9A4-EFDF-7EEC-4F65-A45A029874C7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C172B531-DA5B-7AAC-2FB2-78C7A53B4A8E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3AC074D9-A3AE-5646-0029-035ADC48957F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D8134CB1-9898-6605-2B47-D89D11361D1A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A64E34F0-954A-6639-2FC9-3C2264DFF7C5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D3825728-8197-BFEC-4856-65ECF903A92E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8C3ADB71-57A9-5E47-FFF5-27FB08A576EE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110C06BB-1EAA-7778-57CB-145E6E50F456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32659AE5-A95A-9E6F-C8FA-E6050C790504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1E55A364-7088-61E9-6C56-26F6EF3D7A97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F7F77964-E4E5-777F-7312-7E223AC97611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979129F6-485A-080C-6511-2EEB4C85E0F9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DF4A948F-6696-0746-3593-D799359AD765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821080F4-DD09-6335-9D3D-3C328F81F490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9F15C8CA-4A45-145C-3324-FB1BE4B0E33C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4F934FAD-D78E-A1A8-FEAB-20EE50ED6AEA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C3BDF06A-5FF0-8B45-86A6-343235339691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E5FC1821-EE8A-3931-44CA-6C8B78C0418E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631224B1-0317-538C-6573-C89411B0FC1A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D39DA4CC-31D6-2EFF-F906-B1A146A358C0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4E71A582-A79D-1274-548B-97F99D39FE81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B297ED10-5BDF-1346-7423-2F0DDA680E77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80D3F564-136F-EE59-87CB-C7C95A40F195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080D0AAE-6282-56B4-4EC6-FD58D1433E59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5797DB-C7F4-9352-2D96-ADEC2182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6468719" cy="572700"/>
          </a:xfrm>
        </p:spPr>
        <p:txBody>
          <a:bodyPr/>
          <a:lstStyle/>
          <a:p>
            <a:r>
              <a:rPr lang="en-US" dirty="0"/>
              <a:t>Visible treads in the number of rides each hour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85748-9769-A2CA-2A8F-079ECB9A8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139" y="1434734"/>
            <a:ext cx="5336580" cy="339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7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0392D53E-C373-9E5F-A184-0139DC9A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5F265503-606E-9031-50C8-0EC18A4D4804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C68D8E98-F42F-2E56-AE84-25BB3BC08A75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0479559B-FE0F-8784-D23E-3E71E4E08B6A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FC175D45-7A8F-1D89-64CB-B4A3D29E28A8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F06209B3-B001-3C8C-D600-8AC43189063B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67FE7E60-DC5B-F29A-B640-D5834F28DB13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0CA7D4D8-33EE-9B63-0224-258BA368D5FC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4A41EFBF-ACDE-BB47-9BCE-20E8310C781F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3E832296-C596-34A5-9684-5E3B9751D854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0FA419C7-3CC7-581F-6C75-F2EE49D0A0FA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713E7387-E417-D4BE-29E1-55F72EEC612E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C9924887-3680-6F38-1983-190C9C16B7AB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830AC252-B63B-E710-A479-8AB985505B48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88671E29-0C79-0EDE-F735-F30A215B9FE7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B2DA9C50-A416-27E1-5FB0-0451B5E6D318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CC9231CD-7801-457B-8455-23D1DCC974DB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A5E2D92B-161A-03E3-3DC3-5DFC83659634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EB0B285B-C74C-D91F-9306-57DCC612157E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F8C9875F-BB1D-75F9-D629-B234B233DFB3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7A137038-EB3D-E9C2-0359-CF9C380E85E9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AE7E1DBB-55AC-3321-F32C-3FFAF4B8B002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A7CCDAB2-8EB6-CF88-7AE7-03A1765E0A58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6F385018-8BBE-D8BE-CB3A-E52FD8B36A99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6EE83C85-340E-F06A-D9B3-987E815364C2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64D92584-FA5E-F495-841E-456BCBAABC1B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86FD3A13-5F5A-3DD8-8AB8-168C3AE81378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58EAAA77-7B9B-24AC-02C2-1F6B4A83117D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32049E63-411E-7579-6733-C3DD06F8B2D1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EF3F82B5-7523-9269-F92A-C051DECCA1AB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5A9E018C-C290-F54F-970D-3D4C676E6465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5E317EFD-2A58-EAE2-A22B-A516513E7762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1E9B5EC9-BC72-DDAB-7C4C-96C54F63C223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CA962B41-B000-20D8-73E6-C624312A8EE2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51FF6D0C-FE7C-5EEF-4348-17A3BDE8BF29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FB7ECC3A-9DA6-1AAB-6E11-1015058B9FEE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907E5C9D-3D49-00D4-C21A-1BCF4F3C1072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3ABD3B24-B1D7-4A49-28C8-8DEE8E24574B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D53267B2-74CC-8546-3552-BB6222B223CA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7C864001-1E4F-260C-CABE-05BAB407F709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1DA0CB9A-EA4C-6F93-A4EA-F0328AF680D3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72F6E964-5D66-DE82-179C-AA3ACCFE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6468719" cy="572700"/>
          </a:xfrm>
        </p:spPr>
        <p:txBody>
          <a:bodyPr/>
          <a:lstStyle/>
          <a:p>
            <a:r>
              <a:rPr lang="en-US" dirty="0"/>
              <a:t>Passenger’s Count Distribution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D52A9-84A6-1D63-57A0-27688CE4C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7" y="1363170"/>
            <a:ext cx="4721848" cy="294509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37772B7-0651-4A10-A1B0-84B28ED62781}"/>
              </a:ext>
            </a:extLst>
          </p:cNvPr>
          <p:cNvSpPr/>
          <p:nvPr/>
        </p:nvSpPr>
        <p:spPr>
          <a:xfrm>
            <a:off x="1068601" y="3566160"/>
            <a:ext cx="709409" cy="8701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Google Shape;710;p39">
            <a:extLst>
              <a:ext uri="{FF2B5EF4-FFF2-40B4-BE49-F238E27FC236}">
                <a16:creationId xmlns:a16="http://schemas.microsoft.com/office/drawing/2014/main" id="{719C7A38-B602-211E-9792-0F49EA62542F}"/>
              </a:ext>
            </a:extLst>
          </p:cNvPr>
          <p:cNvSpPr txBox="1"/>
          <p:nvPr/>
        </p:nvSpPr>
        <p:spPr>
          <a:xfrm>
            <a:off x="5520955" y="1545587"/>
            <a:ext cx="3055711" cy="293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There are 1791 rides with 0 passengers ????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 compensate we replace them with the mode which is 1 passenger</a:t>
            </a:r>
            <a:endParaRPr sz="16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3195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B8260254-CB96-1A59-86D0-4AFF3C8C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0AA16E64-9C82-13E1-36C9-20B0EE46B870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2DAB9C03-0605-F066-B1E5-3DA569D4C910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1421B425-4A26-A3E8-465E-8A657ECB4B05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7920723-9023-8BEC-73F4-006E1A1DCEB4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607ED629-58C1-BC2B-FCF5-FC96957339AB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EEDBBEFF-4407-E62A-5506-30CC83E40D6A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0AC4C090-E0CA-0121-41FB-A56C534CD3C6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CC14506-6A18-FDD8-FA3C-88DEB8A538FE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357D5EC9-E981-EBB9-C9A4-B955EC6D557B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B1BF6352-CA31-6080-97B8-36F3F50B000C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03050CF0-D850-1342-B640-3652B36140AD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E59A5F6C-10D8-E539-E189-7D8440A38D16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047AA259-0CF3-6C00-D3EB-18F8F31FBC50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CDB84613-6D35-B88C-3B02-A77AA1F2946D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3706EBDE-4490-E5F4-B943-05BB2078A09F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BD7BE889-8B19-2E55-8BB0-4B7A3768C268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36872C3B-C0F5-B071-AC47-B1DFABCE07EA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2667281E-D8A9-9CD9-71CF-1C41F488AE2B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CD5342BC-3197-0A42-948F-81C092BBAF0A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71233F11-9098-1E9E-516B-F1CBB02AF646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3D29788E-35C6-33B2-7B21-3819474B3423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ED2DA4B3-27BD-A779-98DE-8D078B58371B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534AE289-3E91-611B-6836-3B38607B775B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526973E2-0439-E39F-FAE0-A2E01960E4AE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4D5F69A1-58F0-CCA2-8519-DA12DA808980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B4485299-DBCA-9318-24FB-D3BDAABBFE02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30EFA5D0-2498-9F9F-42F7-59E59DB77DE7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F5CCACC8-B725-B4A7-C525-99648B2A1DA0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91DB2B80-FA7B-3BDC-A21F-B17BB2D35953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8B9758DD-4D22-239B-5756-521D14A560D3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BC075060-77BA-D0E0-0596-73217F743485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241F6096-C2E6-D60B-4D2C-73C547D01F6C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C87B4D20-F751-DA3F-F1F5-2837B94CCC15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09E305CB-B24B-F34F-B7F8-93573648C635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6E142344-CB07-59EE-529F-9EFD4EF3F5E4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537548C1-9B26-1116-667E-08497B4FBE6E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BED43EA0-41C2-D57E-DD17-184868FDEAE1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FD3D4397-8C4E-9192-9A11-BFD16F2E9BB4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D1EFE871-9926-19B7-86FA-EC0B78BD3108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14818E14-F514-0404-E5F2-CCA1605C7DF9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978BF30-8F41-9EC9-6B7E-F303BFC8E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6468719" cy="572700"/>
          </a:xfrm>
        </p:spPr>
        <p:txBody>
          <a:bodyPr/>
          <a:lstStyle/>
          <a:p>
            <a:r>
              <a:rPr lang="en-US" dirty="0"/>
              <a:t>After replacing the outlier with 0</a:t>
            </a:r>
            <a:endParaRPr lang="fr-FR" dirty="0"/>
          </a:p>
        </p:txBody>
      </p:sp>
      <p:sp>
        <p:nvSpPr>
          <p:cNvPr id="9" name="Google Shape;710;p39">
            <a:extLst>
              <a:ext uri="{FF2B5EF4-FFF2-40B4-BE49-F238E27FC236}">
                <a16:creationId xmlns:a16="http://schemas.microsoft.com/office/drawing/2014/main" id="{43DADE3C-E6ED-18C9-B220-D4EDD4BE4AF5}"/>
              </a:ext>
            </a:extLst>
          </p:cNvPr>
          <p:cNvSpPr txBox="1"/>
          <p:nvPr/>
        </p:nvSpPr>
        <p:spPr>
          <a:xfrm>
            <a:off x="5520955" y="1545587"/>
            <a:ext cx="3055711" cy="293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Passenger Count is Highly Skewed might need resampling.</a:t>
            </a:r>
            <a:endParaRPr sz="16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49EB4-AB01-BBFE-FC53-9B9D42331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31" y="1307757"/>
            <a:ext cx="4938757" cy="313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40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>
          <a:extLst>
            <a:ext uri="{FF2B5EF4-FFF2-40B4-BE49-F238E27FC236}">
              <a16:creationId xmlns:a16="http://schemas.microsoft.com/office/drawing/2014/main" id="{B2ACF41B-368D-0A55-D799-E57E6E57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">
            <a:extLst>
              <a:ext uri="{FF2B5EF4-FFF2-40B4-BE49-F238E27FC236}">
                <a16:creationId xmlns:a16="http://schemas.microsoft.com/office/drawing/2014/main" id="{560306AB-CAE2-FED8-47A0-FE0DBF4197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Findings</a:t>
            </a:r>
          </a:p>
        </p:txBody>
      </p:sp>
      <p:sp>
        <p:nvSpPr>
          <p:cNvPr id="710" name="Google Shape;710;p39">
            <a:extLst>
              <a:ext uri="{FF2B5EF4-FFF2-40B4-BE49-F238E27FC236}">
                <a16:creationId xmlns:a16="http://schemas.microsoft.com/office/drawing/2014/main" id="{5DA8BC01-DFC3-4EC6-5B8C-6C0F327F917E}"/>
              </a:ext>
            </a:extLst>
          </p:cNvPr>
          <p:cNvSpPr txBox="1"/>
          <p:nvPr/>
        </p:nvSpPr>
        <p:spPr>
          <a:xfrm>
            <a:off x="551305" y="1468215"/>
            <a:ext cx="8025361" cy="301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Most Data is uniformly distributed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There is are features that might need resampling to avoid biases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Outliers exist, possibly due to incorrect data or special cases.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Certain Hours shows a visible trend.</a:t>
            </a:r>
            <a:endParaRPr sz="24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3" name="Google Shape;713;p39">
            <a:extLst>
              <a:ext uri="{FF2B5EF4-FFF2-40B4-BE49-F238E27FC236}">
                <a16:creationId xmlns:a16="http://schemas.microsoft.com/office/drawing/2014/main" id="{00D6A912-1637-C02C-3766-794D6CFBD876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963" t="-22828" r="28447" b="-23884"/>
          <a:stretch/>
        </p:blipFill>
        <p:spPr>
          <a:xfrm>
            <a:off x="0" y="-825906"/>
            <a:ext cx="1158000" cy="24855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pic>
      <p:grpSp>
        <p:nvGrpSpPr>
          <p:cNvPr id="721" name="Google Shape;721;p39">
            <a:extLst>
              <a:ext uri="{FF2B5EF4-FFF2-40B4-BE49-F238E27FC236}">
                <a16:creationId xmlns:a16="http://schemas.microsoft.com/office/drawing/2014/main" id="{1563688F-22EE-D74E-EE14-6F22F8494DAF}"/>
              </a:ext>
            </a:extLst>
          </p:cNvPr>
          <p:cNvGrpSpPr/>
          <p:nvPr/>
        </p:nvGrpSpPr>
        <p:grpSpPr>
          <a:xfrm>
            <a:off x="7406817" y="4690534"/>
            <a:ext cx="1393254" cy="851132"/>
            <a:chOff x="3577367" y="1677509"/>
            <a:chExt cx="1393254" cy="851132"/>
          </a:xfrm>
        </p:grpSpPr>
        <p:sp>
          <p:nvSpPr>
            <p:cNvPr id="722" name="Google Shape;722;p39">
              <a:extLst>
                <a:ext uri="{FF2B5EF4-FFF2-40B4-BE49-F238E27FC236}">
                  <a16:creationId xmlns:a16="http://schemas.microsoft.com/office/drawing/2014/main" id="{AC85075D-7ED2-B72E-5BC4-5BDCB807EC50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9">
              <a:extLst>
                <a:ext uri="{FF2B5EF4-FFF2-40B4-BE49-F238E27FC236}">
                  <a16:creationId xmlns:a16="http://schemas.microsoft.com/office/drawing/2014/main" id="{C8972FA0-C0AC-C4F7-4780-D07DE96BA3BD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9">
              <a:extLst>
                <a:ext uri="{FF2B5EF4-FFF2-40B4-BE49-F238E27FC236}">
                  <a16:creationId xmlns:a16="http://schemas.microsoft.com/office/drawing/2014/main" id="{F85965F1-E928-1FCD-BD56-F1C0195245C1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9">
              <a:extLst>
                <a:ext uri="{FF2B5EF4-FFF2-40B4-BE49-F238E27FC236}">
                  <a16:creationId xmlns:a16="http://schemas.microsoft.com/office/drawing/2014/main" id="{3E03F92B-7AA6-0622-8057-8620B4AACAE7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9">
              <a:extLst>
                <a:ext uri="{FF2B5EF4-FFF2-40B4-BE49-F238E27FC236}">
                  <a16:creationId xmlns:a16="http://schemas.microsoft.com/office/drawing/2014/main" id="{D2DE4FDC-8B63-EF03-6441-247ED9D2B8E3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9">
              <a:extLst>
                <a:ext uri="{FF2B5EF4-FFF2-40B4-BE49-F238E27FC236}">
                  <a16:creationId xmlns:a16="http://schemas.microsoft.com/office/drawing/2014/main" id="{5110D666-6D63-AD29-9C8E-6F7ECF2B6A69}"/>
                </a:ext>
              </a:extLst>
            </p:cNvPr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9">
              <a:extLst>
                <a:ext uri="{FF2B5EF4-FFF2-40B4-BE49-F238E27FC236}">
                  <a16:creationId xmlns:a16="http://schemas.microsoft.com/office/drawing/2014/main" id="{591E8F13-D3C8-E061-6642-3BFF70094972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9">
              <a:extLst>
                <a:ext uri="{FF2B5EF4-FFF2-40B4-BE49-F238E27FC236}">
                  <a16:creationId xmlns:a16="http://schemas.microsoft.com/office/drawing/2014/main" id="{D876F64B-D3A9-9B73-7AFD-7BC87F73EF5A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9">
              <a:extLst>
                <a:ext uri="{FF2B5EF4-FFF2-40B4-BE49-F238E27FC236}">
                  <a16:creationId xmlns:a16="http://schemas.microsoft.com/office/drawing/2014/main" id="{C45DA29C-48C8-D774-23E1-5077C82E6AC9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9">
              <a:extLst>
                <a:ext uri="{FF2B5EF4-FFF2-40B4-BE49-F238E27FC236}">
                  <a16:creationId xmlns:a16="http://schemas.microsoft.com/office/drawing/2014/main" id="{39EA589E-1771-FA82-FB74-0024E829424D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9">
              <a:extLst>
                <a:ext uri="{FF2B5EF4-FFF2-40B4-BE49-F238E27FC236}">
                  <a16:creationId xmlns:a16="http://schemas.microsoft.com/office/drawing/2014/main" id="{2AE92864-5752-DE86-4772-29B103C7A616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9">
              <a:extLst>
                <a:ext uri="{FF2B5EF4-FFF2-40B4-BE49-F238E27FC236}">
                  <a16:creationId xmlns:a16="http://schemas.microsoft.com/office/drawing/2014/main" id="{596FC5C3-7926-8750-ED73-7F5CEFE602FA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9">
              <a:extLst>
                <a:ext uri="{FF2B5EF4-FFF2-40B4-BE49-F238E27FC236}">
                  <a16:creationId xmlns:a16="http://schemas.microsoft.com/office/drawing/2014/main" id="{7CF80750-32A5-922E-DA07-B6FE3629FA6D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9">
              <a:extLst>
                <a:ext uri="{FF2B5EF4-FFF2-40B4-BE49-F238E27FC236}">
                  <a16:creationId xmlns:a16="http://schemas.microsoft.com/office/drawing/2014/main" id="{90294C51-4EBB-2B40-42A2-773C97B415BD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>
              <a:extLst>
                <a:ext uri="{FF2B5EF4-FFF2-40B4-BE49-F238E27FC236}">
                  <a16:creationId xmlns:a16="http://schemas.microsoft.com/office/drawing/2014/main" id="{0B6D0020-BFEC-2B1B-CEE2-F2DB0BDBE29D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9">
              <a:extLst>
                <a:ext uri="{FF2B5EF4-FFF2-40B4-BE49-F238E27FC236}">
                  <a16:creationId xmlns:a16="http://schemas.microsoft.com/office/drawing/2014/main" id="{B3247E51-7B52-E7BF-A75F-68326B732ACF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9">
              <a:extLst>
                <a:ext uri="{FF2B5EF4-FFF2-40B4-BE49-F238E27FC236}">
                  <a16:creationId xmlns:a16="http://schemas.microsoft.com/office/drawing/2014/main" id="{4DF376CC-B33D-5A97-03E3-7CEFFE0B0DC6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9">
              <a:extLst>
                <a:ext uri="{FF2B5EF4-FFF2-40B4-BE49-F238E27FC236}">
                  <a16:creationId xmlns:a16="http://schemas.microsoft.com/office/drawing/2014/main" id="{D89B04CC-0CA9-6698-A24F-C3D89D589D29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9">
              <a:extLst>
                <a:ext uri="{FF2B5EF4-FFF2-40B4-BE49-F238E27FC236}">
                  <a16:creationId xmlns:a16="http://schemas.microsoft.com/office/drawing/2014/main" id="{0F6FA724-9478-AE95-38D6-14E840D7F6C8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9">
              <a:extLst>
                <a:ext uri="{FF2B5EF4-FFF2-40B4-BE49-F238E27FC236}">
                  <a16:creationId xmlns:a16="http://schemas.microsoft.com/office/drawing/2014/main" id="{D499C2E4-06BC-4911-B773-E889114DBED5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9">
              <a:extLst>
                <a:ext uri="{FF2B5EF4-FFF2-40B4-BE49-F238E27FC236}">
                  <a16:creationId xmlns:a16="http://schemas.microsoft.com/office/drawing/2014/main" id="{2E09FA7F-ED51-A6A6-8E71-C58FA41D8936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9">
              <a:extLst>
                <a:ext uri="{FF2B5EF4-FFF2-40B4-BE49-F238E27FC236}">
                  <a16:creationId xmlns:a16="http://schemas.microsoft.com/office/drawing/2014/main" id="{81A21BCB-129F-ED40-FB7D-EC6CDADCDC76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9">
              <a:extLst>
                <a:ext uri="{FF2B5EF4-FFF2-40B4-BE49-F238E27FC236}">
                  <a16:creationId xmlns:a16="http://schemas.microsoft.com/office/drawing/2014/main" id="{48F30C10-D617-5723-B06B-C52836790FB8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9">
              <a:extLst>
                <a:ext uri="{FF2B5EF4-FFF2-40B4-BE49-F238E27FC236}">
                  <a16:creationId xmlns:a16="http://schemas.microsoft.com/office/drawing/2014/main" id="{97E5477B-815F-DFAB-4367-69FEF8EBE35D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50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E2BCF-B529-0C62-6AAF-1DE45036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AFD6-5567-9CD5-FA5F-437F20F1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0" y="1590630"/>
            <a:ext cx="4150500" cy="1302300"/>
          </a:xfrm>
        </p:spPr>
        <p:txBody>
          <a:bodyPr/>
          <a:lstStyle/>
          <a:p>
            <a:r>
              <a:rPr lang="en-US" dirty="0"/>
              <a:t>Numerical Features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245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/>
          <p:cNvSpPr txBox="1">
            <a:spLocks noGrp="1"/>
          </p:cNvSpPr>
          <p:nvPr>
            <p:ph type="title"/>
          </p:nvPr>
        </p:nvSpPr>
        <p:spPr>
          <a:xfrm>
            <a:off x="544846" y="23788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Distribution of Fares</a:t>
            </a:r>
            <a:endParaRPr dirty="0"/>
          </a:p>
        </p:txBody>
      </p:sp>
      <p:grpSp>
        <p:nvGrpSpPr>
          <p:cNvPr id="665" name="Google Shape;665;p38"/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/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/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/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/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/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/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/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/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/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/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/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/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/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/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D56B8C-E9F3-41FC-21E4-2A66C7903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10" y="797236"/>
            <a:ext cx="6897707" cy="42864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020D1135-80DB-DAB6-5BE3-5FECFFEA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ADB01EC6-7731-3A55-5DF9-3F5FB17A9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4846" y="23788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Negative Fares ???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FBD0441A-58E0-7064-EA11-7E7597C98E42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99A52B86-03C4-3F91-0936-D0785BD0FC75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9DFB6D5F-4F30-7875-4E79-186FDC5E595A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913AD5F5-07CD-EB71-5B13-F2CBDBB39B18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DD92B811-80EF-A675-87EC-9EC15690CFE6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3C0AAEDD-1CE0-9469-839E-340AA6DB1C9F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555D496A-D8DA-4212-1993-DB115D2CDF61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F9637C01-F757-6B2E-C995-7532438BCF64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2378C27F-A173-8F78-CAF0-EAD3B34AE2C9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DC103DA3-590F-3AC6-9044-E2C809CECBEE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039EC56F-22BB-0507-0FF2-334479CEB70A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0C5D0DA5-32B9-D503-5FF7-DE164AFE33CE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B2FE1E2B-D015-55EF-DBEC-3A02037B9A1E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9E68CD56-C1F1-97A4-8ED9-B0ACA4EB6F0A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989AC6AF-324B-DDF8-994E-C45A63A18FD0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6134AA7F-E447-88E8-7B06-521E1FDE3C30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EDD3648E-A442-191D-ABB5-DD74408C6433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DEA262BE-2BC4-D2BF-7D10-44A0D8EEFBE9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F38013E4-B619-A7D8-89C8-3C95EB6E8E94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224DA337-75E6-5863-7C2E-98B39451AF0B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831F3BE9-EFFC-0D41-C116-FCCFD7DFE418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024C1D8A-A815-3D3F-C51F-2D04C5509F6F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00F9A027-7758-45DB-3540-FC3D9407C20D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DCF5199B-9483-74AA-8ABA-46E86C3654F7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EB509CDF-E397-614A-1A56-DBB1312DBBA4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B717ECA0-5ECB-9FAE-EF90-C4D4B052B540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517518FD-6192-272F-6B65-A4FACDC31F76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4488283D-508D-9F0E-2858-8B49D74B1D9A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57EA49FB-3D1E-B4D5-EEF4-A3809E3BB96A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0B931D79-B51D-4F0D-E146-0EA501096EFB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82548BA0-404B-96FD-99E3-69F07C1CFF45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20003425-D3E6-220D-2DBF-EF4656B11D01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4AB35736-3EDA-A967-7E2A-A9E843C2538D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EE6CC435-81F5-F216-31AE-C05ED30EC77A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697BE473-CF24-A6C2-60BB-10FF192107F6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967C30D9-EC07-4388-8C3B-EE24D5C501FF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9B4D24DC-B111-8066-075F-A5B5E7D1DF22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84F65D50-4F3A-3638-78F8-4CC9A114F708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B6629CF5-F30A-DFA2-3026-269B6DE6E25A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93BB2B3B-1C91-95B4-E0D1-B775C32BCDEA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0087A95-3BB8-06FE-18A5-895D149B5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91" y="1126389"/>
            <a:ext cx="4944958" cy="3372969"/>
          </a:xfrm>
          <a:prstGeom prst="rect">
            <a:avLst/>
          </a:prstGeom>
        </p:spPr>
      </p:pic>
      <p:sp>
        <p:nvSpPr>
          <p:cNvPr id="7" name="Google Shape;710;p39">
            <a:extLst>
              <a:ext uri="{FF2B5EF4-FFF2-40B4-BE49-F238E27FC236}">
                <a16:creationId xmlns:a16="http://schemas.microsoft.com/office/drawing/2014/main" id="{570B0DA3-CA40-BED9-D4E8-F607B11BF0AE}"/>
              </a:ext>
            </a:extLst>
          </p:cNvPr>
          <p:cNvSpPr txBox="1"/>
          <p:nvPr/>
        </p:nvSpPr>
        <p:spPr>
          <a:xfrm>
            <a:off x="5402078" y="1361137"/>
            <a:ext cx="3055711" cy="293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There are 21 rides with negative fares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Assuming there are no negative fares allowed and this is a mistake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 fix we multiply each negative fare with -1 to make it positive</a:t>
            </a:r>
            <a:endParaRPr sz="16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45D374-82D9-45D2-3285-1DD781FDDA39}"/>
              </a:ext>
            </a:extLst>
          </p:cNvPr>
          <p:cNvSpPr/>
          <p:nvPr/>
        </p:nvSpPr>
        <p:spPr>
          <a:xfrm>
            <a:off x="273035" y="2432304"/>
            <a:ext cx="602763" cy="6339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03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64AF3D98-E8B2-41E9-6275-15C593BE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EDE3D774-A42A-54B5-747A-9D634B4C4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4846" y="237881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Distribution of Other features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C666A0A5-ABB5-92F3-1FC7-B94948EDC51F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670E8A34-5F72-14D7-B012-91A18A12E931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D9577EC6-867F-D4BC-04C0-C861CD4287AD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0D389313-5018-F98D-0112-515ED72C47CF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E386B059-2C04-845A-C3C6-E7A5B44CBD1C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4704F0E9-F960-F3D4-16CD-F3C58B81B94F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14E3DD57-B724-9488-55B6-56DAF4C7F4A6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158887BE-24F7-9262-A4E1-FA456011991D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30A4B504-0976-A876-438E-3E07DC287106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9F9B862D-D30A-8204-D44E-4285FBA4011A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344C58D0-CF2C-8D8F-8160-773DCE69A6D1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B0C3590E-8821-797C-3961-2F1D103159CC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E0748ECF-1B58-D728-EDCC-AF1F63AB2D66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72B66C3A-EE6B-3E25-D9C7-940EA0442824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ECEA06A2-47CA-BDC2-F13D-DD0EA3DA86B6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6B6CC364-0284-8111-065E-29C4E87DDD4F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2C6333D1-06F2-B554-7872-7CCB4D5782C7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0A113083-0864-E07D-E4AB-39D374785776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BC93843C-FD76-6021-94C5-587757D29FB9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E3EA88B4-C887-88FC-5E67-205814D59004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8ADDEF1B-42F9-A34C-8BE9-572ACB9D9233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175D512C-E59E-92F0-070E-FA5CF22133F1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66EBC6B4-F1AF-DDDA-0668-02DD076A2EDA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6C6BD078-2774-72C9-EA8D-9F7D8F8926F8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4CE0079B-763D-BF96-56F7-A0BE415A3D23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B73121F1-DBA0-8FEE-417A-F4851472269D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CCF67822-BA87-8E00-E95D-A643E05078FB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A2150D5C-1D32-9561-0994-3C58FDBD4745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F825B4E4-C895-EDCC-D8D8-477E0B1D871C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94181D84-5BDE-9C49-8568-F615EA32511B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7516624C-C2F4-7AE6-0971-4AEC2D02F321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9FFAFFDF-D67F-4157-2586-DE40D068EC13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7B946F3B-666A-8404-F4BF-4734C754241B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60550B7B-4881-EB58-41FC-3B7C58EEDC1F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2E8C38D6-72D4-0E96-6B77-32B2A72FAAFE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FC7BD53D-6D09-2B77-25DE-A973FB2F9B06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483F4EDB-0792-35D4-6ADE-3D35B28D444B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FEBCCAC4-5E34-2990-57C5-DA5F680694A5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B518C8AA-5C5B-4CAF-AC2A-6A04DE78CDA2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07C6CEFC-25B7-3EF7-7753-00736F06CD95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AADDECC-72CE-8511-DDAD-AF9FA6C4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5090"/>
            <a:ext cx="1818986" cy="1190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460B5D-B323-5901-CA65-541FB434A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099" y="877854"/>
            <a:ext cx="1979760" cy="1230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598331-A33B-9C21-F998-A6B46CDF2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972" y="961918"/>
            <a:ext cx="1764355" cy="1096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C1992-6CC3-533C-24A9-B560A5340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4424" y="924183"/>
            <a:ext cx="1905987" cy="1184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0168C2-CC3A-8AD4-6DBC-C38177CB60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672" y="911041"/>
            <a:ext cx="1928093" cy="119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B1CE83-6CE2-B6C9-21A3-BB397140A9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15" y="2229769"/>
            <a:ext cx="1915065" cy="11900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27F990-9ABE-0B35-CFAD-C90C11F56E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327" y="2259486"/>
            <a:ext cx="1915064" cy="11900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389E33-8EA2-43E4-2DC1-CB04D27114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0339" y="2271452"/>
            <a:ext cx="1915065" cy="11900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662073-2014-3D39-60BA-6407572BFB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6232" y="2209689"/>
            <a:ext cx="2074536" cy="12891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482EE8E-4AFB-8F17-D6CD-307CEB3C9C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1056" y="3568143"/>
            <a:ext cx="2463916" cy="15311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E23CB2F-3F0A-9419-ECBD-83051E3458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3445" y="3545886"/>
            <a:ext cx="2535349" cy="159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0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>
          <a:extLst>
            <a:ext uri="{FF2B5EF4-FFF2-40B4-BE49-F238E27FC236}">
              <a16:creationId xmlns:a16="http://schemas.microsoft.com/office/drawing/2014/main" id="{AAB7DF9F-D136-0CC2-A085-08FF7EE4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">
            <a:extLst>
              <a:ext uri="{FF2B5EF4-FFF2-40B4-BE49-F238E27FC236}">
                <a16:creationId xmlns:a16="http://schemas.microsoft.com/office/drawing/2014/main" id="{788F8D50-FA36-6202-44F5-73C4136FC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Findings</a:t>
            </a:r>
          </a:p>
        </p:txBody>
      </p:sp>
      <p:sp>
        <p:nvSpPr>
          <p:cNvPr id="710" name="Google Shape;710;p39">
            <a:extLst>
              <a:ext uri="{FF2B5EF4-FFF2-40B4-BE49-F238E27FC236}">
                <a16:creationId xmlns:a16="http://schemas.microsoft.com/office/drawing/2014/main" id="{EAA38134-412A-848B-9CEE-312E209BA570}"/>
              </a:ext>
            </a:extLst>
          </p:cNvPr>
          <p:cNvSpPr txBox="1"/>
          <p:nvPr/>
        </p:nvSpPr>
        <p:spPr>
          <a:xfrm>
            <a:off x="551305" y="1468215"/>
            <a:ext cx="8025361" cy="301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Numerical Features are Highly Skewed with a lot of outliers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apply log transform to compensate the skewness with features with &gt;1 skew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Except for the bearing feature</a:t>
            </a:r>
          </a:p>
        </p:txBody>
      </p:sp>
      <p:pic>
        <p:nvPicPr>
          <p:cNvPr id="713" name="Google Shape;713;p39">
            <a:extLst>
              <a:ext uri="{FF2B5EF4-FFF2-40B4-BE49-F238E27FC236}">
                <a16:creationId xmlns:a16="http://schemas.microsoft.com/office/drawing/2014/main" id="{BC7C1244-5A8B-AAD7-1762-A65D1599D4F7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963" t="-22828" r="28447" b="-23884"/>
          <a:stretch/>
        </p:blipFill>
        <p:spPr>
          <a:xfrm>
            <a:off x="0" y="-825906"/>
            <a:ext cx="1158000" cy="24855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pic>
      <p:grpSp>
        <p:nvGrpSpPr>
          <p:cNvPr id="721" name="Google Shape;721;p39">
            <a:extLst>
              <a:ext uri="{FF2B5EF4-FFF2-40B4-BE49-F238E27FC236}">
                <a16:creationId xmlns:a16="http://schemas.microsoft.com/office/drawing/2014/main" id="{A5E34696-1E81-31B6-3908-25418748BE50}"/>
              </a:ext>
            </a:extLst>
          </p:cNvPr>
          <p:cNvGrpSpPr/>
          <p:nvPr/>
        </p:nvGrpSpPr>
        <p:grpSpPr>
          <a:xfrm>
            <a:off x="7406817" y="4690534"/>
            <a:ext cx="1393254" cy="851132"/>
            <a:chOff x="3577367" y="1677509"/>
            <a:chExt cx="1393254" cy="851132"/>
          </a:xfrm>
        </p:grpSpPr>
        <p:sp>
          <p:nvSpPr>
            <p:cNvPr id="722" name="Google Shape;722;p39">
              <a:extLst>
                <a:ext uri="{FF2B5EF4-FFF2-40B4-BE49-F238E27FC236}">
                  <a16:creationId xmlns:a16="http://schemas.microsoft.com/office/drawing/2014/main" id="{528823D8-709D-87F8-7189-7DE90FF6A211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9">
              <a:extLst>
                <a:ext uri="{FF2B5EF4-FFF2-40B4-BE49-F238E27FC236}">
                  <a16:creationId xmlns:a16="http://schemas.microsoft.com/office/drawing/2014/main" id="{FE0E63E4-38D1-BD06-F4EF-1C390F234F28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9">
              <a:extLst>
                <a:ext uri="{FF2B5EF4-FFF2-40B4-BE49-F238E27FC236}">
                  <a16:creationId xmlns:a16="http://schemas.microsoft.com/office/drawing/2014/main" id="{63543269-B731-E93A-57AB-2C81FED08F64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9">
              <a:extLst>
                <a:ext uri="{FF2B5EF4-FFF2-40B4-BE49-F238E27FC236}">
                  <a16:creationId xmlns:a16="http://schemas.microsoft.com/office/drawing/2014/main" id="{E7C021F5-B388-18B0-F2FE-16CB03F64B95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9">
              <a:extLst>
                <a:ext uri="{FF2B5EF4-FFF2-40B4-BE49-F238E27FC236}">
                  <a16:creationId xmlns:a16="http://schemas.microsoft.com/office/drawing/2014/main" id="{72C27D47-CEE6-5AFE-EF46-E13961E5FBCA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9">
              <a:extLst>
                <a:ext uri="{FF2B5EF4-FFF2-40B4-BE49-F238E27FC236}">
                  <a16:creationId xmlns:a16="http://schemas.microsoft.com/office/drawing/2014/main" id="{7C05ED00-F6C3-6402-494E-5A85E6EC88E6}"/>
                </a:ext>
              </a:extLst>
            </p:cNvPr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9">
              <a:extLst>
                <a:ext uri="{FF2B5EF4-FFF2-40B4-BE49-F238E27FC236}">
                  <a16:creationId xmlns:a16="http://schemas.microsoft.com/office/drawing/2014/main" id="{4B245397-C313-2A94-203E-F10B8F20C5A9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9">
              <a:extLst>
                <a:ext uri="{FF2B5EF4-FFF2-40B4-BE49-F238E27FC236}">
                  <a16:creationId xmlns:a16="http://schemas.microsoft.com/office/drawing/2014/main" id="{B0BC8FFA-1C77-2F8E-9725-4BF5139632AB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9">
              <a:extLst>
                <a:ext uri="{FF2B5EF4-FFF2-40B4-BE49-F238E27FC236}">
                  <a16:creationId xmlns:a16="http://schemas.microsoft.com/office/drawing/2014/main" id="{4E873071-2F72-CF5F-B4A6-C41ABF7250FA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9">
              <a:extLst>
                <a:ext uri="{FF2B5EF4-FFF2-40B4-BE49-F238E27FC236}">
                  <a16:creationId xmlns:a16="http://schemas.microsoft.com/office/drawing/2014/main" id="{5324019F-815D-45F0-8A29-5A8C7DB6ED31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9">
              <a:extLst>
                <a:ext uri="{FF2B5EF4-FFF2-40B4-BE49-F238E27FC236}">
                  <a16:creationId xmlns:a16="http://schemas.microsoft.com/office/drawing/2014/main" id="{6DA8D480-B9DC-6C56-E7F9-380D6B859900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9">
              <a:extLst>
                <a:ext uri="{FF2B5EF4-FFF2-40B4-BE49-F238E27FC236}">
                  <a16:creationId xmlns:a16="http://schemas.microsoft.com/office/drawing/2014/main" id="{656559E8-5C5C-16A4-94A1-F144525A112B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9">
              <a:extLst>
                <a:ext uri="{FF2B5EF4-FFF2-40B4-BE49-F238E27FC236}">
                  <a16:creationId xmlns:a16="http://schemas.microsoft.com/office/drawing/2014/main" id="{FD19EBF8-16E1-1CC3-D997-575F6710CDAC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9">
              <a:extLst>
                <a:ext uri="{FF2B5EF4-FFF2-40B4-BE49-F238E27FC236}">
                  <a16:creationId xmlns:a16="http://schemas.microsoft.com/office/drawing/2014/main" id="{983DE5A6-19FD-7F4A-5EFE-127DB2000A2C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>
              <a:extLst>
                <a:ext uri="{FF2B5EF4-FFF2-40B4-BE49-F238E27FC236}">
                  <a16:creationId xmlns:a16="http://schemas.microsoft.com/office/drawing/2014/main" id="{8BEFF1F0-58EB-714E-C40A-B20D1B6BE9BC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9">
              <a:extLst>
                <a:ext uri="{FF2B5EF4-FFF2-40B4-BE49-F238E27FC236}">
                  <a16:creationId xmlns:a16="http://schemas.microsoft.com/office/drawing/2014/main" id="{A8693FD2-DCEB-F85D-B035-04EAA50DDE6A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9">
              <a:extLst>
                <a:ext uri="{FF2B5EF4-FFF2-40B4-BE49-F238E27FC236}">
                  <a16:creationId xmlns:a16="http://schemas.microsoft.com/office/drawing/2014/main" id="{48FFF014-A736-4D67-159B-B657745A1A1B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9">
              <a:extLst>
                <a:ext uri="{FF2B5EF4-FFF2-40B4-BE49-F238E27FC236}">
                  <a16:creationId xmlns:a16="http://schemas.microsoft.com/office/drawing/2014/main" id="{0F90E8CA-58C9-45A2-43EA-8D7CCFCD0CB5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9">
              <a:extLst>
                <a:ext uri="{FF2B5EF4-FFF2-40B4-BE49-F238E27FC236}">
                  <a16:creationId xmlns:a16="http://schemas.microsoft.com/office/drawing/2014/main" id="{5CE40E16-15A6-7146-EDFF-1A9848741529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9">
              <a:extLst>
                <a:ext uri="{FF2B5EF4-FFF2-40B4-BE49-F238E27FC236}">
                  <a16:creationId xmlns:a16="http://schemas.microsoft.com/office/drawing/2014/main" id="{C70930D2-CB7C-B1E2-1B7B-C4D9FA4295FE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9">
              <a:extLst>
                <a:ext uri="{FF2B5EF4-FFF2-40B4-BE49-F238E27FC236}">
                  <a16:creationId xmlns:a16="http://schemas.microsoft.com/office/drawing/2014/main" id="{3EA28E30-23A8-C4A1-1B35-8A4F581301EA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9">
              <a:extLst>
                <a:ext uri="{FF2B5EF4-FFF2-40B4-BE49-F238E27FC236}">
                  <a16:creationId xmlns:a16="http://schemas.microsoft.com/office/drawing/2014/main" id="{29A0C3ED-D388-6967-B012-08D5D9AABF9C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9">
              <a:extLst>
                <a:ext uri="{FF2B5EF4-FFF2-40B4-BE49-F238E27FC236}">
                  <a16:creationId xmlns:a16="http://schemas.microsoft.com/office/drawing/2014/main" id="{B188F497-4A29-D57A-EA9C-D82237501548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9">
              <a:extLst>
                <a:ext uri="{FF2B5EF4-FFF2-40B4-BE49-F238E27FC236}">
                  <a16:creationId xmlns:a16="http://schemas.microsoft.com/office/drawing/2014/main" id="{1D8904B8-880D-6948-2815-EE37AE0ACA25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86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4F177-D223-5ACE-130E-A3605D34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2D35-1CCB-9231-42E3-C609E635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0" y="1590630"/>
            <a:ext cx="4150500" cy="1302300"/>
          </a:xfrm>
        </p:spPr>
        <p:txBody>
          <a:bodyPr/>
          <a:lstStyle/>
          <a:p>
            <a:r>
              <a:rPr lang="en-US" dirty="0"/>
              <a:t>Analysis with Target Feature</a:t>
            </a:r>
            <a:endParaRPr lang="fr-FR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B2524FA-1B45-9AC7-FA3C-98CBEF4E1E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each feature affects the fare amount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0932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22ED2E77-9CF5-868E-6155-6BF7F7A4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77C14500-5991-D7A2-9AA4-43B9F11EB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4175" y="349494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Correlation </a:t>
            </a:r>
            <a:r>
              <a:rPr lang="en-US" dirty="0" err="1"/>
              <a:t>HeatMap</a:t>
            </a:r>
            <a:r>
              <a:rPr lang="en-US" dirty="0"/>
              <a:t> of the features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90B6C24E-02FA-211C-3473-93306CD06816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1C21BE73-3DF9-1B0B-8353-BC8FE79ACC14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70C484D2-3762-CA95-F8CC-B2CBC9181B0E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C137842F-8273-A051-C3DC-8DE6EEC0B832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8BA38F0-03B6-0FAF-6357-C2110807DAE2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5259B5D0-1F00-C382-7136-076791E3A5AD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D338D868-FFB7-754A-41A8-70D69E7AB5C5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5F10AA00-7770-B9CF-E1CB-5FC8A90D652B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410A87CC-D221-62F9-D70E-DE569568355B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CC4D2EE0-B167-006B-8AC0-FF0F788D755F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916B0F23-510A-2965-4979-0D435A2356C2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459C7E08-9CE7-F425-094F-5F561F52E245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C81E05C2-002B-3904-6446-6D610ACEE5E4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0165CD92-CF1C-60F1-C34C-11A023CD0D2D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1F990CDF-95CB-F7C3-B801-76F33327F50A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E07BB262-3AA1-96CB-0DF5-A7E0AA05128F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2A485D2A-33F4-CE0F-3D2A-EBAE3F81CBCC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3956EC7B-3F0A-6DDC-6D62-E8AB2F9E014D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18C4A909-9CA7-58DE-1407-B388CBF9C4C4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F031C70C-ACAE-C0B9-9056-6D81C7F05DE3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000E7628-9020-B9EF-E774-8B5A26101857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7FD0BA44-63D5-5060-D777-6A2E41EE2004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4E3D2564-7CB1-EB02-68C8-85BDC777D96C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BED3C657-CBF2-ED8A-6B98-35D3DE46580B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94B1248C-C3C1-5FF4-F5FF-0BFFF31A5D06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0029E8F4-69BF-C79B-62DD-D032FD391164}"/>
              </a:ext>
            </a:extLst>
          </p:cNvPr>
          <p:cNvGrpSpPr/>
          <p:nvPr/>
        </p:nvGrpSpPr>
        <p:grpSpPr>
          <a:xfrm>
            <a:off x="7705400" y="0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CA2ABDD6-CA76-53DA-F500-3A52D7FC607E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3D473F80-DFC7-9EA9-34AB-F35A1690417F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062B7707-EB71-AD9B-0200-27329AD53B85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B453FABC-857F-305A-97B1-4A5A75314456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DCA2EEFF-91EA-5F58-B18F-B215E2A54A2C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29004C9F-33B3-7FE3-8F57-82A33A664A90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6AD8D214-D125-7650-B4B7-318435180110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1074AE4D-524C-82BB-3CE4-8DE8E3753E17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72FFC98E-C684-70D2-E0AD-2C186B2A8B67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42FBEAFC-9CE8-6FEA-9A4C-3CDF6B094E91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3A08A000-3E23-5C99-6EF3-0BDFDA394D03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981C9975-A15E-73D0-9E09-98AA1DD6FB7D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4958B195-168C-94F4-C785-55C93C494B7C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A4FFAAB1-5296-171A-F448-665A19821815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07B738-2DEE-D846-D881-1D896C5D8EC0}"/>
              </a:ext>
            </a:extLst>
          </p:cNvPr>
          <p:cNvSpPr txBox="1"/>
          <p:nvPr/>
        </p:nvSpPr>
        <p:spPr>
          <a:xfrm>
            <a:off x="2236851" y="4179838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Correlation with certain features as distance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08CD10-6DCB-23E3-36C4-946C92F77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201" y="952179"/>
            <a:ext cx="4485211" cy="32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92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C17512F9-FE35-48FF-0469-3248E80D9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A33FF7A4-387D-3BA1-BA32-13415D1AE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4175" y="349494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Fare vs Distance and Traffic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5B8326A0-52A2-19FA-03F7-48DE54EAFBF5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210E4ABD-EE3F-3556-2E44-32831DFD1670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4AFCB7BC-A99C-4AFA-FDAC-A804F6C6C1AB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E46BA306-00D9-32A1-29BA-7B588D947EE8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210879AD-9FD8-5DDF-8221-458389FB65D4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BC5D9FC6-02DF-CD86-9A97-BFE08FD9EAD6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1F705D7A-C64D-1328-114D-59E1AB1E12C2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83FBE0DB-2969-CB89-73A4-BBD841AB86A4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40413E8E-EEC4-E8C7-43B4-9D6B013CAA3E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891354E8-44EC-0DE5-8F06-8C1D66E1476F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7085FC07-152A-EF3F-1900-331F223A4174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86D6A26D-E552-4B2E-B6A4-D98C7974F7B8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28202B4B-337E-8A9E-7509-E62EF44DEA98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78C1F3B6-E822-A613-E9D9-8C79242CA9A1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DB842DC2-AF4D-5773-B323-0CB821EEA33F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2DA7E1EB-6EC7-F6B1-579A-844D74DED161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E5265758-7ADF-6860-B335-A5DCB251249C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BEDD8440-67E5-6F02-F61C-41D93C3F1BFF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6C99F14C-91D6-F947-9892-63D34D825178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075E0778-3D5A-661C-9369-01E26426FD47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D46B292D-9D5E-E647-2DE7-3684077CC6CB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DE7E7D0E-5C93-B5B6-7B9F-A2BFCC1497DC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C57F952F-1FB1-5A27-7096-47818D2BD845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F8D69F7E-EB52-4642-330D-EE2227045427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0B4E141E-4C30-F32B-5739-E9C29C10CDF0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6F10CAB5-CC27-3755-E532-C82E4069ABEF}"/>
              </a:ext>
            </a:extLst>
          </p:cNvPr>
          <p:cNvGrpSpPr/>
          <p:nvPr/>
        </p:nvGrpSpPr>
        <p:grpSpPr>
          <a:xfrm>
            <a:off x="7705400" y="0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AF7E9DBC-9E5C-DF38-0DCC-091E1CF4E5E9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4676B637-ABB8-BA2B-890C-B50E94D1C49B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07CBE618-EAC8-1799-ED0F-61EB07D03759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A50DA18C-CE82-3E93-07FF-BD5E437554FE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04C808BA-780C-9E39-DC37-E1856C66AAC3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22907351-48A1-AF1C-6F90-5C54C378CC03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084BFF32-1D22-9F1A-EBBB-F9B387475010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A8AA9EE1-A2BF-8DDA-ECC4-E43195FA8AEB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A07AB9CB-9E42-E4F5-C925-7019FFBDA7B4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D40CDA63-6BBC-2C4D-58EC-05C62DBA3116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7857EF13-9851-9A67-162E-0E48E901A964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22E1C9EB-30AF-8A30-64CF-BB85F55BDA79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A0FDF387-BD46-9D3A-2B00-12065BEBEEEA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59235F8D-1B9C-53BF-6E60-5BCFD9F3B8E6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CED4AF5-FD9B-E495-88A0-8C5F957D85E5}"/>
              </a:ext>
            </a:extLst>
          </p:cNvPr>
          <p:cNvSpPr txBox="1"/>
          <p:nvPr/>
        </p:nvSpPr>
        <p:spPr>
          <a:xfrm>
            <a:off x="2231136" y="4179838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Correlation between distance and fare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affect of traffic on the fare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44F1A-1954-783A-15BF-BC75EFA8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852" y="874488"/>
            <a:ext cx="5851625" cy="322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47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30175456-C063-5E36-1358-24EDDF37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954D544F-EEF5-5BF3-F2BE-3950D0E3A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4175" y="349494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Fare Amount Over Time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60FF92CB-C5C1-7B4F-4C78-58EC7E9128EE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F55D72EA-BD34-14BB-516E-F2FC3876ACFE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EEEFD964-A6D9-1081-24EC-279EF3161ACB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AC030AE8-C2EA-7E67-E5AD-F111D5E28661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D185DC92-03D9-0C07-EB36-5DCED86D2C3B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EA6D0A01-0CEC-C1D4-16C5-72438241AC54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523DC2EB-C2D5-9535-445E-23EE1ADD6D5C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8D928C2-2F61-22C1-9A01-14C087D67778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34FDF00A-844D-91DD-B561-86F665430416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8EEA772B-51CA-D0F6-6BFB-46743F43118F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1D3F3BC9-A132-48D7-6BDF-5C0D2C99A9F4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C341357F-0E0C-A932-3B23-E3943ECEC868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ABCEA4B3-9861-6CC2-524F-F80B8B7F4FB5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F632B167-490E-58AD-A236-9CE5E5253739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09487C53-EBB4-27E2-1E15-411F896D50EB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3A9368D7-328C-8727-DD0B-73EFC3E71881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A384D408-D9DA-B77D-2613-5181C33AEF81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A0B96622-9115-8383-D375-57B35F95843B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70FA0DCF-6156-56B0-7323-04E99CCC9675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82116A12-E92A-CE63-47D7-8912EF933DD5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57FA6562-1139-8DD2-DD12-56283218AAC1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FD69CDD8-1205-9AFA-FC54-71CD310C2769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402073F8-C592-6A86-625A-22EC73B92B52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091683A2-082E-D302-5B3E-B8429466BC14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7E0F72A7-AB53-E316-A1D1-7B457F0D31B6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557AC4A4-1E8E-65FF-2221-84442D3B4B32}"/>
              </a:ext>
            </a:extLst>
          </p:cNvPr>
          <p:cNvGrpSpPr/>
          <p:nvPr/>
        </p:nvGrpSpPr>
        <p:grpSpPr>
          <a:xfrm>
            <a:off x="7705400" y="0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81030AA3-5ACD-B060-607C-09A32BC0186F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0FEFEECB-F3D2-11FC-673D-30CD1C76B471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4E67E25F-CFA3-FF6A-9969-41C2F85E40C4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87E561AC-619D-4696-8C9A-7CD9E2AAECBE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9B0DB768-13A6-4EC3-DE9F-EB203FB06505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F75F3DA9-4B7B-6E2E-9A32-364DEC7AB0BE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7B5B2A72-9BAF-5EFC-F21D-ABE1BCC894FF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1B61924B-5782-E951-9B7F-1078C1BEFCD1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61848814-7A6E-3B64-C23B-5F0DF680D27D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0C97D45C-7D79-88CD-EB90-3EC651B4DA2B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BA00D1E0-F128-0D6D-DBA2-10148E72FF06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D4D27C36-412D-1FF0-B86C-FDEA2E54D4F1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448FF63A-9D09-E736-CD9A-A41070F97F55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773F3612-3445-9A15-CEAF-744147A92756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55CF9D-4E52-989A-4566-4178656020BC}"/>
              </a:ext>
            </a:extLst>
          </p:cNvPr>
          <p:cNvSpPr txBox="1"/>
          <p:nvPr/>
        </p:nvSpPr>
        <p:spPr>
          <a:xfrm>
            <a:off x="2231136" y="4179838"/>
            <a:ext cx="533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year there is a rise in the fare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slight increase in fare from August to September probably due to demand because of the vacation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50EFF-E35E-B45F-D66D-A4EE7E004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00" y="905242"/>
            <a:ext cx="7126399" cy="33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44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0CA5BB16-CB07-EE62-C8E5-18E26F25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1EB53D34-2933-CDB7-CD07-4BE7AE64F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34" y="31099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Peak fare hours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CF647898-32D1-2712-4C84-AFB32A4B6154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5D161F2D-BE8D-02E7-232A-4F7E2A6DC8D3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8D73BFC2-3FFC-8BDF-71EE-E1300D1E6E8D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F021DEEB-26B3-F8E3-6742-033254DE28FB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6F2EE4DF-1F26-47CE-C511-F5A0EE138A16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D56E2920-EC68-2097-F771-CABBE0BB95C1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75E736EE-3D87-8A78-8F41-8F1530F925F1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9AFE8C0E-A042-9B13-9968-6095059E8744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61755EE1-8D0E-083F-C065-FF5D71D05F9B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55D104BF-3FCA-8F40-337A-FF98697D38BB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85616EE0-D4AA-1DBA-3AD2-76B7CA8565C7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13D4D7DB-DBA8-A276-B0FF-37F967EDAE21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2967B171-84CE-A919-AF96-6E7BD361F5A9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2BE099AB-3E66-80C5-82F2-EA1E0078FD8E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EBCD672F-BF2E-EAD5-8B29-9EECB314BB66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20F6FD8B-6090-FFB4-A4FA-C6199F20DF54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2C0DC735-B100-276D-729F-C644C6499329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9B157D10-BD3C-45CF-0E36-C51F3DAA319F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67504EBA-B372-5DDA-2874-3EC579B415E8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31900DB6-293C-B913-0AB9-EC7C24D3A83F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21383A4B-B1E4-CF0B-6FD9-B29897681860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683D67BE-6628-0259-8A6D-F1FD84CA453D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4A73A428-C1DF-60A4-C530-8833573D6AF5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08AC0409-44F3-5EAC-647F-0C12E9C7955A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2F051A45-987C-ACC3-A177-1854C619AF62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07D226B2-A0BC-AE61-60BE-F7F0A8612A74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274F1AE5-6D43-DBA9-569E-430801F66DC8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08B845F6-94D7-BE72-930C-9C9928A7D4AF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A5389056-7BA0-01D9-67C2-D522DF78D445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3A0D9AE5-BC01-337F-048B-92F1B8960425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A699F7CE-A7EC-3AB1-4679-B8FD34716D45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A77D2E0E-BB79-D132-0691-3707D97625D5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80AB168F-B281-C7D5-DABA-1851692B3FC7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219D080B-AEEC-B42B-EB5C-7E58EE9A63F2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654F5AEF-1C36-183E-0D9E-59715231A759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4D63658C-11A5-868F-D40C-097B8ED79367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F83951EA-DD52-BA59-AED1-94D7269D1EE1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44F55675-A4BF-652F-D8ED-A3D0FFD6AF2E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CB97BBDA-4C85-D139-D3AE-36E112120CDC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41D15996-C76A-9836-00DE-4E12238FAF2E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350056-0837-6F3E-B9EB-4FEDE7BB8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35" y="847615"/>
            <a:ext cx="7125809" cy="3331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A8795E-8436-6AEB-8B8C-CDB4C1149A3B}"/>
              </a:ext>
            </a:extLst>
          </p:cNvPr>
          <p:cNvSpPr txBox="1"/>
          <p:nvPr/>
        </p:nvSpPr>
        <p:spPr>
          <a:xfrm>
            <a:off x="1940922" y="4144525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Peak hours and trends each year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4654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5A80102D-845B-5647-6B22-2CAF6618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ACA85D20-6D06-25EE-43CD-A791FF635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34" y="31099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Fare Amount over the time and week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71940AEC-E26C-683B-9760-B85B2DCD0D85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0E40FD0E-DA6F-5024-BD6A-C5A85ADCE8B8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B5717BBC-EC11-643A-7665-E6120D4CED3A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2825C13A-043E-9DD9-A0C6-78B2253DD000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C122D45A-AF9C-C644-7482-EEF92F499995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C8937FBC-C934-8D77-08D6-E902D80BBF21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969C379F-5627-9DC3-1C29-6841DA631A0A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EEA01354-816D-A7AD-E01A-EBE4DD928C62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E99E3FF1-FA2C-2815-9CC6-36A61AD16864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15AC6832-26D6-77B0-67CB-7A6E17517324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AA1B6395-13DD-71DD-01F8-0B9396A94417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9BD78D3F-67C6-C28F-7C2E-F023FB7780D0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B690E8AD-8274-C84B-CCAD-ABE2C6D62046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F91BDB63-1E52-D721-7B27-8164C7121303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B6FD7575-474B-F8AF-3064-3DCF534CAE2C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9C6B07F8-D7EC-3850-7754-95C31195B949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B7D62DF0-F8B3-3649-4E17-17D2AFC4EE11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D14EAF7C-C2B0-0ACA-436E-5C4E7903B0B7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D8BBD59F-C3E9-4109-E31D-127CC54E8304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F174E867-5AAD-7E99-880A-6B7862FFD2E7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4D24AC84-795A-5311-1F86-27EBEBD9368C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5C46EF05-1C44-6208-85CC-D3BE6BD92063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D153E6A9-D788-FBFC-8014-FF918DEEC625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28C97A3B-0B15-6D59-572E-B77CEC0530DD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488EF5ED-9A0E-62AA-5028-05F977F21926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3AD07649-9CBA-86B2-680E-9BDB2374801C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91CBE00E-98D5-3B51-E421-EE0CCFEF94D9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8D248903-EA43-071C-F9E3-3F06FFABD45B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A769B3B5-AB45-92B2-5E6E-EF9BDF0FE376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AEB5F5EA-EDEB-2061-6FAC-4FDCB8132E74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7711B28B-6616-56D7-9E3E-4C1E77F92ECC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632BFB1A-0E52-DC17-6C44-FBEDA21F1A5D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90B7DB11-A49C-9A10-A6E9-A9F76DC0D361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9F26C883-194B-F204-E9D7-F4661959D4E9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77553B43-E812-C4DF-7D9F-710526797D2F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D3521F90-8366-FA5D-9206-0E01A65A39D1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CBB573F4-A118-E320-13C8-3E69EAD113C1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01B3D537-E07C-C28E-70DA-B4EDFD441280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4FBE0560-765B-427C-E8AA-26508F4B9B4A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737075D2-BD28-96B6-3090-45FB97C2A348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95A82AC-FA91-B686-C39A-809249D6620E}"/>
              </a:ext>
            </a:extLst>
          </p:cNvPr>
          <p:cNvSpPr txBox="1"/>
          <p:nvPr/>
        </p:nvSpPr>
        <p:spPr>
          <a:xfrm>
            <a:off x="1824678" y="4413623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Hour can change over the week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3BD72-F63C-6194-09AB-C757FCA19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623" y="945667"/>
            <a:ext cx="5941213" cy="35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10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0FF5D8BC-DF60-5C9B-751E-4F02792D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6F5B2EA7-225F-C25C-0E43-9B02C88A6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34" y="31099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Bearing Affects Fare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372C8249-99CD-3117-FFE8-112C33DF6D2E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7999991F-9504-9E88-3E5D-B6C742FEB736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86E219AF-0EF5-CBDD-6606-2F0FE858EEEC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52BDC2F5-8B85-121B-0DD5-EEA992E72AD2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17B00B46-3F13-14C9-C8FB-4C7B5099361C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E56614B2-C180-C138-EEAE-078A9DA22B5F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1BA749E0-694C-B7F5-E319-79EFE422D679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96771C53-7FFC-A611-3BAB-0D707F261EB3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2959FD2D-D688-E30D-7071-CECC86CD8E1A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79375FA6-11C8-6BA9-6F83-93A4BC546C67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74E53F8F-1C49-53EE-C20E-E60C20129794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C55B5553-B83F-4C23-EDA9-C522F87FAA7F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682F61FB-8807-F4E0-44A0-CFBB162DAB76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11C4F04E-BE12-C3F0-3DA1-1F7B9416D521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3FC0DA7D-0AC7-70A3-CFC7-3EC5DC8220BC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9955670F-4470-58C3-4CBF-2B6B76CF7507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B1DC5920-9B2A-9E1E-2C84-FDF673827466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CDC43D2B-EF45-2B30-56AD-4FCFFFF1A0D4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8119922B-029A-F12C-DD30-83E86703FFF7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1A0D2DDE-2938-C89A-527F-8BE29A89E6D9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13F67C51-4FC3-C6CA-9ED0-A1C6FE7B022C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B3DF4F7B-6775-BDFD-8EAE-F6CBA4996EC0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A02A2F11-8729-3FC0-0DF8-B509BA562732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2CBF051B-49ED-BA9F-F693-42EB2795913A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E871B5D5-1384-C496-E549-E3CC4E74AD3F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2C7C7EB0-1E3A-5F0F-14F4-C9F218886FDE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8CC87A58-1018-5D76-BDDE-24D96F313387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AF9B42FC-B57B-5F30-B74A-C2DE59AD4DFF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9C08B4C6-3AAD-D80C-BEAF-9ADD16F89517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D90EC6D4-17C3-88AB-E18F-530EBC509597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3920BF14-D492-EF4A-CA48-89AD23075B2A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4F9603BE-CE3E-7C09-6581-38E99DA91953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892A43AD-5D19-DFED-C5B0-0D79A21BD351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1CF2E3AA-A5A8-2C36-BC8A-6D8419783968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A9505814-B279-CA21-131F-4DDD08905BB1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962DD683-A991-BB7D-8904-AA90B811DAA9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324AD388-1906-3BCC-84E9-0EFF2DDCBFCC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738741C7-19A9-6F67-2E25-2A9242A02100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8680759D-0C66-AC9B-EC21-7DEB53C320F2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CA795F3C-8758-31E7-2E81-B6965AAB90E9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336486-22D0-8399-AE62-677A52A848F7}"/>
              </a:ext>
            </a:extLst>
          </p:cNvPr>
          <p:cNvSpPr txBox="1"/>
          <p:nvPr/>
        </p:nvSpPr>
        <p:spPr>
          <a:xfrm>
            <a:off x="1824678" y="4413623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affect on bearing on the fare price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FF84C-6A64-DD4F-505C-800A663E3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339" y="945667"/>
            <a:ext cx="3186413" cy="323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32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B57BFFFE-54DF-5FED-E795-4A0AC81D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6FC688A5-212C-CC9D-BD0A-B042F12CE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34" y="31099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Number of people each hour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719856B7-3970-DECC-890E-F8603A9CF326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9E65AAF6-17BC-44D6-976E-5351E7C380F1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5F4B39BD-30C5-7962-00D5-ADE9D997F3E0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FDAAF6D-6DDD-4A22-A01C-3DB540F64FFA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E5992545-1673-8E73-04B3-61F53EE3E5F1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9CD22B1C-C825-46F6-65E1-FCB3F449620A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B72853AB-65D4-F45F-EDAE-C9D082FCECE0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77E1D04E-6E2B-30C4-93AC-D746EF74C2C2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3745F560-8EEF-9D38-46F1-3078621E4FE9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CF97B3CC-C797-B333-1A2C-E36AF8A96736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4D66DC8C-A8F0-7478-2093-F51753EC12C6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EB26CA44-8BF5-B858-7258-0A82285C856B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9C33D388-06B9-BB45-83A7-C0171DFC65C1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CBED901D-E5C0-9A98-98E8-A142D86481A6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5508C9A5-62F9-217D-A2E5-BED585EEC569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C3B28A56-A5A0-7538-C266-F72CCD42F8CE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4AF0DBFE-646A-483E-163F-9233FB05EC9D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4ABB093B-05CD-B934-201A-36E5FC8E0657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780B2CB8-73F4-ED57-075F-5AAA3A764440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BC3F1A60-7295-1D4D-0EC6-0456DE1E72D5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5173D7F6-BD14-1FF2-1248-DF7D5A04F921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289F684B-41DC-8C4B-BC37-EC305CF45A86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9BF1C44A-5DB6-8607-41C7-A26F92F115BD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541ED7C9-2439-39D3-CFFF-E1BA39D2E326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AD584E98-3F92-695B-98EC-51C11CFC43A9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21A47E78-A130-F887-0DCF-AB4E80363ABB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730FB2DE-433F-4A41-1924-2280C44CBDDB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135926A4-E044-0C12-E4AE-AD987D71E5B3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D650D60E-9B11-2150-4195-D791F3481A04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7A078C74-0A41-85E0-89E7-935CF7E85769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08ABE269-2CC5-723A-EF0A-4CBEC8BF041D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BACF999A-EABA-D6D1-4A5E-BCB9BBF22514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1AE6370E-96C3-8ED4-C9BC-0E626AF5E910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52E94598-1A55-382F-D61F-5D9E75728B77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6A551F8A-0667-0800-31A6-B8164C64EC2F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36555578-4631-1E31-8798-1DB40699C763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BECF08AF-465F-4040-7E0D-75CD51326899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DC756320-AA2D-514B-F48C-4D94E1B24FB7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C69AC030-3FB8-9646-5A36-D3AF207CD946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914837B4-7B46-27D4-7548-932E49100D02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39AC5B-55B3-CEDD-24EA-45C138612BA1}"/>
              </a:ext>
            </a:extLst>
          </p:cNvPr>
          <p:cNvSpPr txBox="1"/>
          <p:nvPr/>
        </p:nvSpPr>
        <p:spPr>
          <a:xfrm>
            <a:off x="1824678" y="4413623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Fare prices are affected by the number of people according to the time of day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141AA-36D3-6BCA-DC93-7D4E75EB5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696" y="879256"/>
            <a:ext cx="6119509" cy="33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22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>
          <a:extLst>
            <a:ext uri="{FF2B5EF4-FFF2-40B4-BE49-F238E27FC236}">
              <a16:creationId xmlns:a16="http://schemas.microsoft.com/office/drawing/2014/main" id="{2A64ADAB-D236-83F2-BF89-B969FC70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>
            <a:extLst>
              <a:ext uri="{FF2B5EF4-FFF2-40B4-BE49-F238E27FC236}">
                <a16:creationId xmlns:a16="http://schemas.microsoft.com/office/drawing/2014/main" id="{2F221BAA-F159-8952-5190-6ECA4FC3E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34" y="310998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 of rides and fare each Season</a:t>
            </a:r>
            <a:endParaRPr dirty="0"/>
          </a:p>
        </p:txBody>
      </p:sp>
      <p:grpSp>
        <p:nvGrpSpPr>
          <p:cNvPr id="665" name="Google Shape;665;p38">
            <a:extLst>
              <a:ext uri="{FF2B5EF4-FFF2-40B4-BE49-F238E27FC236}">
                <a16:creationId xmlns:a16="http://schemas.microsoft.com/office/drawing/2014/main" id="{EA661DF1-E9C8-0848-1E53-44E24A983693}"/>
              </a:ext>
            </a:extLst>
          </p:cNvPr>
          <p:cNvGrpSpPr/>
          <p:nvPr/>
        </p:nvGrpSpPr>
        <p:grpSpPr>
          <a:xfrm>
            <a:off x="-124521" y="3921665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>
              <a:extLst>
                <a:ext uri="{FF2B5EF4-FFF2-40B4-BE49-F238E27FC236}">
                  <a16:creationId xmlns:a16="http://schemas.microsoft.com/office/drawing/2014/main" id="{A0A65CF4-A452-29D7-E492-F83AAEF3483E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>
              <a:extLst>
                <a:ext uri="{FF2B5EF4-FFF2-40B4-BE49-F238E27FC236}">
                  <a16:creationId xmlns:a16="http://schemas.microsoft.com/office/drawing/2014/main" id="{2B9892CF-BE1E-1A52-BD39-C75DA952788F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5AB1D378-8B31-EC60-88C2-F60181246EE7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F3EC9227-7715-B9F0-C2A0-AE46F64CC247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>
              <a:extLst>
                <a:ext uri="{FF2B5EF4-FFF2-40B4-BE49-F238E27FC236}">
                  <a16:creationId xmlns:a16="http://schemas.microsoft.com/office/drawing/2014/main" id="{F496B0E9-2E7C-FF0D-D840-C7D654A59C53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3334DF7-6D5B-7368-7CE0-00AE92FC3298}"/>
                </a:ext>
              </a:extLst>
            </p:cNvPr>
            <p:cNvSpPr/>
            <p:nvPr/>
          </p:nvSpPr>
          <p:spPr>
            <a:xfrm>
              <a:off x="4660956" y="2382145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AD914E4-457D-8308-D4B5-7DA96D383BE9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>
              <a:extLst>
                <a:ext uri="{FF2B5EF4-FFF2-40B4-BE49-F238E27FC236}">
                  <a16:creationId xmlns:a16="http://schemas.microsoft.com/office/drawing/2014/main" id="{C3901D1C-198A-5750-3994-9024A6510177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>
              <a:extLst>
                <a:ext uri="{FF2B5EF4-FFF2-40B4-BE49-F238E27FC236}">
                  <a16:creationId xmlns:a16="http://schemas.microsoft.com/office/drawing/2014/main" id="{2C0588E6-E856-38B2-D444-D5FB9AD65F28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>
              <a:extLst>
                <a:ext uri="{FF2B5EF4-FFF2-40B4-BE49-F238E27FC236}">
                  <a16:creationId xmlns:a16="http://schemas.microsoft.com/office/drawing/2014/main" id="{E7320D5F-2068-4E1F-A2D3-D9C0DADB6AD6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>
              <a:extLst>
                <a:ext uri="{FF2B5EF4-FFF2-40B4-BE49-F238E27FC236}">
                  <a16:creationId xmlns:a16="http://schemas.microsoft.com/office/drawing/2014/main" id="{7ABD5CEF-8999-F8BB-AD66-614FAA710CFD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>
              <a:extLst>
                <a:ext uri="{FF2B5EF4-FFF2-40B4-BE49-F238E27FC236}">
                  <a16:creationId xmlns:a16="http://schemas.microsoft.com/office/drawing/2014/main" id="{94A6725F-A321-932F-5BFC-33AF8962E677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>
              <a:extLst>
                <a:ext uri="{FF2B5EF4-FFF2-40B4-BE49-F238E27FC236}">
                  <a16:creationId xmlns:a16="http://schemas.microsoft.com/office/drawing/2014/main" id="{4673FD80-C52B-A408-6614-C39E7FF451C4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>
              <a:extLst>
                <a:ext uri="{FF2B5EF4-FFF2-40B4-BE49-F238E27FC236}">
                  <a16:creationId xmlns:a16="http://schemas.microsoft.com/office/drawing/2014/main" id="{574135D3-7D2B-FC2A-B0A2-77CD4ABFC4CD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>
              <a:extLst>
                <a:ext uri="{FF2B5EF4-FFF2-40B4-BE49-F238E27FC236}">
                  <a16:creationId xmlns:a16="http://schemas.microsoft.com/office/drawing/2014/main" id="{AF283012-0F37-BFEA-0A87-29C013A53E2A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>
              <a:extLst>
                <a:ext uri="{FF2B5EF4-FFF2-40B4-BE49-F238E27FC236}">
                  <a16:creationId xmlns:a16="http://schemas.microsoft.com/office/drawing/2014/main" id="{BFB87B41-7266-77F4-01A6-3A28FD0F9CAE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>
              <a:extLst>
                <a:ext uri="{FF2B5EF4-FFF2-40B4-BE49-F238E27FC236}">
                  <a16:creationId xmlns:a16="http://schemas.microsoft.com/office/drawing/2014/main" id="{2166915B-2A5D-A316-90E0-5031F22C5B50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>
              <a:extLst>
                <a:ext uri="{FF2B5EF4-FFF2-40B4-BE49-F238E27FC236}">
                  <a16:creationId xmlns:a16="http://schemas.microsoft.com/office/drawing/2014/main" id="{E9E71ADC-2B69-B70C-4A1C-364FE9EDAB95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>
              <a:extLst>
                <a:ext uri="{FF2B5EF4-FFF2-40B4-BE49-F238E27FC236}">
                  <a16:creationId xmlns:a16="http://schemas.microsoft.com/office/drawing/2014/main" id="{589C8C26-C9EE-2CEC-8FAD-200D5D484B9D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>
              <a:extLst>
                <a:ext uri="{FF2B5EF4-FFF2-40B4-BE49-F238E27FC236}">
                  <a16:creationId xmlns:a16="http://schemas.microsoft.com/office/drawing/2014/main" id="{CCF84C07-6ABE-5A99-F169-F565982EB558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>
              <a:extLst>
                <a:ext uri="{FF2B5EF4-FFF2-40B4-BE49-F238E27FC236}">
                  <a16:creationId xmlns:a16="http://schemas.microsoft.com/office/drawing/2014/main" id="{38222EE6-C398-22FB-9D8E-8D62F1C12B65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>
              <a:extLst>
                <a:ext uri="{FF2B5EF4-FFF2-40B4-BE49-F238E27FC236}">
                  <a16:creationId xmlns:a16="http://schemas.microsoft.com/office/drawing/2014/main" id="{23FBCBC0-2CBA-77DB-6230-C648332562FC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>
              <a:extLst>
                <a:ext uri="{FF2B5EF4-FFF2-40B4-BE49-F238E27FC236}">
                  <a16:creationId xmlns:a16="http://schemas.microsoft.com/office/drawing/2014/main" id="{657EC130-A9C4-4DF4-9987-E7AEAC47D631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>
              <a:extLst>
                <a:ext uri="{FF2B5EF4-FFF2-40B4-BE49-F238E27FC236}">
                  <a16:creationId xmlns:a16="http://schemas.microsoft.com/office/drawing/2014/main" id="{65C1EB53-10EB-A589-FDD2-8C9653650558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38">
            <a:extLst>
              <a:ext uri="{FF2B5EF4-FFF2-40B4-BE49-F238E27FC236}">
                <a16:creationId xmlns:a16="http://schemas.microsoft.com/office/drawing/2014/main" id="{A567AA38-7C18-3E57-EB6F-F8BDAC952D28}"/>
              </a:ext>
            </a:extLst>
          </p:cNvPr>
          <p:cNvGrpSpPr/>
          <p:nvPr/>
        </p:nvGrpSpPr>
        <p:grpSpPr>
          <a:xfrm>
            <a:off x="7172870" y="114847"/>
            <a:ext cx="1518587" cy="1233056"/>
            <a:chOff x="7329141" y="362469"/>
            <a:chExt cx="1022136" cy="829949"/>
          </a:xfrm>
        </p:grpSpPr>
        <p:sp>
          <p:nvSpPr>
            <p:cNvPr id="691" name="Google Shape;691;p38">
              <a:extLst>
                <a:ext uri="{FF2B5EF4-FFF2-40B4-BE49-F238E27FC236}">
                  <a16:creationId xmlns:a16="http://schemas.microsoft.com/office/drawing/2014/main" id="{ECCAB956-B99F-C9EE-E720-5E56D6DC213C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8">
              <a:extLst>
                <a:ext uri="{FF2B5EF4-FFF2-40B4-BE49-F238E27FC236}">
                  <a16:creationId xmlns:a16="http://schemas.microsoft.com/office/drawing/2014/main" id="{F849B0F7-D1D3-3E97-E480-D86F273AA5DC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" name="Google Shape;693;p38">
              <a:extLst>
                <a:ext uri="{FF2B5EF4-FFF2-40B4-BE49-F238E27FC236}">
                  <a16:creationId xmlns:a16="http://schemas.microsoft.com/office/drawing/2014/main" id="{F607B908-C59E-3639-7976-AD0E9A4E89F8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694" name="Google Shape;694;p38">
                <a:extLst>
                  <a:ext uri="{FF2B5EF4-FFF2-40B4-BE49-F238E27FC236}">
                    <a16:creationId xmlns:a16="http://schemas.microsoft.com/office/drawing/2014/main" id="{7A0D8C4C-F1E7-D7C6-005B-834C16392761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>
                <a:extLst>
                  <a:ext uri="{FF2B5EF4-FFF2-40B4-BE49-F238E27FC236}">
                    <a16:creationId xmlns:a16="http://schemas.microsoft.com/office/drawing/2014/main" id="{ADAAAB4D-2656-1AF9-82B1-71299D2F62EE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6" name="Google Shape;696;p38">
              <a:extLst>
                <a:ext uri="{FF2B5EF4-FFF2-40B4-BE49-F238E27FC236}">
                  <a16:creationId xmlns:a16="http://schemas.microsoft.com/office/drawing/2014/main" id="{D7FEDFE8-C4DA-FDDB-7540-F202A7EE92D5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8">
              <a:extLst>
                <a:ext uri="{FF2B5EF4-FFF2-40B4-BE49-F238E27FC236}">
                  <a16:creationId xmlns:a16="http://schemas.microsoft.com/office/drawing/2014/main" id="{53881E35-4EF9-F842-54E3-901E009D5CDF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8">
              <a:extLst>
                <a:ext uri="{FF2B5EF4-FFF2-40B4-BE49-F238E27FC236}">
                  <a16:creationId xmlns:a16="http://schemas.microsoft.com/office/drawing/2014/main" id="{4A802529-435B-4FFA-C61A-1F1894DA81F4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8">
              <a:extLst>
                <a:ext uri="{FF2B5EF4-FFF2-40B4-BE49-F238E27FC236}">
                  <a16:creationId xmlns:a16="http://schemas.microsoft.com/office/drawing/2014/main" id="{8DC5105A-BF02-804D-B679-A5974F311BB2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>
              <a:extLst>
                <a:ext uri="{FF2B5EF4-FFF2-40B4-BE49-F238E27FC236}">
                  <a16:creationId xmlns:a16="http://schemas.microsoft.com/office/drawing/2014/main" id="{F23A55DF-0A46-D8AC-1073-E853AD3166E2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>
              <a:extLst>
                <a:ext uri="{FF2B5EF4-FFF2-40B4-BE49-F238E27FC236}">
                  <a16:creationId xmlns:a16="http://schemas.microsoft.com/office/drawing/2014/main" id="{FAF8BC27-C3A8-CA1C-4292-3BC880091937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>
              <a:extLst>
                <a:ext uri="{FF2B5EF4-FFF2-40B4-BE49-F238E27FC236}">
                  <a16:creationId xmlns:a16="http://schemas.microsoft.com/office/drawing/2014/main" id="{3E4F2E3A-B5CB-6F15-0B27-DF2E822BA307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>
              <a:extLst>
                <a:ext uri="{FF2B5EF4-FFF2-40B4-BE49-F238E27FC236}">
                  <a16:creationId xmlns:a16="http://schemas.microsoft.com/office/drawing/2014/main" id="{7B1E81B4-B0AB-69B9-F931-37BB8D9DD25C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>
              <a:extLst>
                <a:ext uri="{FF2B5EF4-FFF2-40B4-BE49-F238E27FC236}">
                  <a16:creationId xmlns:a16="http://schemas.microsoft.com/office/drawing/2014/main" id="{0704AE96-1300-12EF-6284-5B1ACD3B220E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AAF5A8C-0C19-2C36-102D-8D116D65089F}"/>
              </a:ext>
            </a:extLst>
          </p:cNvPr>
          <p:cNvSpPr txBox="1"/>
          <p:nvPr/>
        </p:nvSpPr>
        <p:spPr>
          <a:xfrm>
            <a:off x="1824678" y="4413623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Spring season has the highest density of rides along the price.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25EC6-ADA1-8F2B-9B4F-131F302D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9" y="813707"/>
            <a:ext cx="6692312" cy="361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00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Findings</a:t>
            </a:r>
          </a:p>
        </p:txBody>
      </p:sp>
      <p:sp>
        <p:nvSpPr>
          <p:cNvPr id="710" name="Google Shape;710;p39"/>
          <p:cNvSpPr txBox="1"/>
          <p:nvPr/>
        </p:nvSpPr>
        <p:spPr>
          <a:xfrm>
            <a:off x="551305" y="1468215"/>
            <a:ext cx="8025361" cy="301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There are certain features with high impact on the fare amount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There are certain features like bearing and weather with low impact on the fare.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Certain feature can affect the peak hour of the fares like number of people and weekday</a:t>
            </a:r>
            <a:endParaRPr sz="2400" dirty="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3" name="Google Shape;713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963" t="-22828" r="28447" b="-23884"/>
          <a:stretch/>
        </p:blipFill>
        <p:spPr>
          <a:xfrm>
            <a:off x="0" y="-825906"/>
            <a:ext cx="1158000" cy="24855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pic>
      <p:grpSp>
        <p:nvGrpSpPr>
          <p:cNvPr id="721" name="Google Shape;721;p39"/>
          <p:cNvGrpSpPr/>
          <p:nvPr/>
        </p:nvGrpSpPr>
        <p:grpSpPr>
          <a:xfrm>
            <a:off x="7406817" y="4690534"/>
            <a:ext cx="1393254" cy="851132"/>
            <a:chOff x="3577367" y="1677509"/>
            <a:chExt cx="1393254" cy="851132"/>
          </a:xfrm>
        </p:grpSpPr>
        <p:sp>
          <p:nvSpPr>
            <p:cNvPr id="722" name="Google Shape;722;p39"/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9"/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9"/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Conclusion</a:t>
            </a:r>
            <a:endParaRPr dirty="0"/>
          </a:p>
        </p:txBody>
      </p:sp>
      <p:sp>
        <p:nvSpPr>
          <p:cNvPr id="826" name="Google Shape;826;p42"/>
          <p:cNvSpPr txBox="1">
            <a:spLocks noGrp="1"/>
          </p:cNvSpPr>
          <p:nvPr>
            <p:ph type="subTitle" idx="1"/>
          </p:nvPr>
        </p:nvSpPr>
        <p:spPr>
          <a:xfrm>
            <a:off x="695909" y="1429094"/>
            <a:ext cx="8119226" cy="2573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EDA provides valuable insights into fare trends, trip patterns, and customer </a:t>
            </a:r>
            <a:r>
              <a:rPr lang="en-GB" sz="2000" dirty="0" err="1"/>
              <a:t>behavior</a:t>
            </a:r>
            <a:r>
              <a:rPr lang="en-GB" sz="2000" dirty="0"/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findings can help optimize pricing strategies, identify peak demand periods, and detect anomalies in fare data.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Future analysis can focus on predictive modelling to estimate fares based on trip details and detect potential outliers or fraudulent transactions..</a:t>
            </a:r>
            <a:endParaRPr sz="2000" dirty="0"/>
          </a:p>
        </p:txBody>
      </p:sp>
      <p:grpSp>
        <p:nvGrpSpPr>
          <p:cNvPr id="838" name="Google Shape;838;p42"/>
          <p:cNvGrpSpPr/>
          <p:nvPr/>
        </p:nvGrpSpPr>
        <p:grpSpPr>
          <a:xfrm flipH="1">
            <a:off x="-797143" y="1736697"/>
            <a:ext cx="1269123" cy="979170"/>
            <a:chOff x="713232" y="1645097"/>
            <a:chExt cx="1269123" cy="979170"/>
          </a:xfrm>
        </p:grpSpPr>
        <p:sp>
          <p:nvSpPr>
            <p:cNvPr id="839" name="Google Shape;839;p42"/>
            <p:cNvSpPr/>
            <p:nvPr/>
          </p:nvSpPr>
          <p:spPr>
            <a:xfrm>
              <a:off x="713232" y="1645097"/>
              <a:ext cx="1269098" cy="979170"/>
            </a:xfrm>
            <a:custGeom>
              <a:avLst/>
              <a:gdLst/>
              <a:ahLst/>
              <a:cxnLst/>
              <a:rect l="l" t="t" r="r" b="b"/>
              <a:pathLst>
                <a:path w="1762636" h="1359958" extrusionOk="0">
                  <a:moveTo>
                    <a:pt x="0" y="0"/>
                  </a:moveTo>
                  <a:lnTo>
                    <a:pt x="1762637" y="0"/>
                  </a:lnTo>
                  <a:lnTo>
                    <a:pt x="1762637" y="1359959"/>
                  </a:lnTo>
                  <a:lnTo>
                    <a:pt x="0" y="135995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757776" y="1689040"/>
              <a:ext cx="1224578" cy="870877"/>
            </a:xfrm>
            <a:custGeom>
              <a:avLst/>
              <a:gdLst/>
              <a:ahLst/>
              <a:cxnLst/>
              <a:rect l="l" t="t" r="r" b="b"/>
              <a:pathLst>
                <a:path w="1700803" h="1209552" extrusionOk="0">
                  <a:moveTo>
                    <a:pt x="1700803" y="0"/>
                  </a:moveTo>
                  <a:lnTo>
                    <a:pt x="1700803" y="1209553"/>
                  </a:lnTo>
                  <a:lnTo>
                    <a:pt x="112349" y="1209553"/>
                  </a:lnTo>
                  <a:cubicBezTo>
                    <a:pt x="50287" y="1209553"/>
                    <a:pt x="0" y="1159266"/>
                    <a:pt x="0" y="1097280"/>
                  </a:cubicBezTo>
                  <a:lnTo>
                    <a:pt x="0" y="112349"/>
                  </a:lnTo>
                  <a:cubicBezTo>
                    <a:pt x="0" y="50363"/>
                    <a:pt x="50287" y="0"/>
                    <a:pt x="112349" y="0"/>
                  </a:cubicBezTo>
                  <a:lnTo>
                    <a:pt x="1700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895406" y="1822018"/>
              <a:ext cx="1015268" cy="621368"/>
            </a:xfrm>
            <a:custGeom>
              <a:avLst/>
              <a:gdLst/>
              <a:ahLst/>
              <a:cxnLst/>
              <a:rect l="l" t="t" r="r" b="b"/>
              <a:pathLst>
                <a:path w="1410094" h="863011" extrusionOk="0">
                  <a:moveTo>
                    <a:pt x="0" y="0"/>
                  </a:moveTo>
                  <a:lnTo>
                    <a:pt x="0" y="863011"/>
                  </a:lnTo>
                  <a:lnTo>
                    <a:pt x="1410094" y="86301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895406" y="1928400"/>
              <a:ext cx="1015268" cy="515044"/>
            </a:xfrm>
            <a:custGeom>
              <a:avLst/>
              <a:gdLst/>
              <a:ahLst/>
              <a:cxnLst/>
              <a:rect l="l" t="t" r="r" b="b"/>
              <a:pathLst>
                <a:path w="1410094" h="715339" extrusionOk="0">
                  <a:moveTo>
                    <a:pt x="0" y="715340"/>
                  </a:moveTo>
                  <a:lnTo>
                    <a:pt x="328690" y="452053"/>
                  </a:lnTo>
                  <a:lnTo>
                    <a:pt x="454712" y="559085"/>
                  </a:lnTo>
                  <a:lnTo>
                    <a:pt x="905550" y="83027"/>
                  </a:lnTo>
                  <a:lnTo>
                    <a:pt x="1077986" y="318207"/>
                  </a:lnTo>
                  <a:lnTo>
                    <a:pt x="1410094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1017604" y="22938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1575619" y="203937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1819686" y="1961125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1293848" y="21982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991282" y="1857861"/>
              <a:ext cx="278114" cy="54528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8" name="Google Shape;848;p42"/>
            <p:cNvGrpSpPr/>
            <p:nvPr/>
          </p:nvGrpSpPr>
          <p:grpSpPr>
            <a:xfrm>
              <a:off x="991282" y="1966652"/>
              <a:ext cx="178234" cy="78199"/>
              <a:chOff x="3931369" y="3641467"/>
              <a:chExt cx="247410" cy="108550"/>
            </a:xfrm>
          </p:grpSpPr>
          <p:sp>
            <p:nvSpPr>
              <p:cNvPr id="849" name="Google Shape;849;p42"/>
              <p:cNvSpPr/>
              <p:nvPr/>
            </p:nvSpPr>
            <p:spPr>
              <a:xfrm>
                <a:off x="3931369" y="364146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42"/>
              <p:cNvSpPr/>
              <p:nvPr/>
            </p:nvSpPr>
            <p:spPr>
              <a:xfrm>
                <a:off x="3931369" y="369190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42"/>
              <p:cNvSpPr/>
              <p:nvPr/>
            </p:nvSpPr>
            <p:spPr>
              <a:xfrm>
                <a:off x="3931369" y="3742421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Analysis and Statistics - 4th grade by Slidesgo">
  <a:themeElements>
    <a:clrScheme name="Simple Light">
      <a:dk1>
        <a:srgbClr val="17175A"/>
      </a:dk1>
      <a:lt1>
        <a:srgbClr val="FFFFFF"/>
      </a:lt1>
      <a:dk2>
        <a:srgbClr val="F6F2CC"/>
      </a:dk2>
      <a:lt2>
        <a:srgbClr val="FCBD0E"/>
      </a:lt2>
      <a:accent1>
        <a:srgbClr val="FA9D02"/>
      </a:accent1>
      <a:accent2>
        <a:srgbClr val="FC81FD"/>
      </a:accent2>
      <a:accent3>
        <a:srgbClr val="7CE1CF"/>
      </a:accent3>
      <a:accent4>
        <a:srgbClr val="6E6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804F587C9E9248B5E8B8C156A4DAB1" ma:contentTypeVersion="15" ma:contentTypeDescription="Create a new document." ma:contentTypeScope="" ma:versionID="28b9eb9a29d4a2414a25648361ce5b13">
  <xsd:schema xmlns:xsd="http://www.w3.org/2001/XMLSchema" xmlns:xs="http://www.w3.org/2001/XMLSchema" xmlns:p="http://schemas.microsoft.com/office/2006/metadata/properties" xmlns:ns3="2ead6ce8-8fe2-4ad4-ae4a-4efde8dbaf8b" xmlns:ns4="2a2f9e5e-b040-4875-af04-823633d03e65" targetNamespace="http://schemas.microsoft.com/office/2006/metadata/properties" ma:root="true" ma:fieldsID="3b6fdf5ec52a01c1028a9836b8066666" ns3:_="" ns4:_="">
    <xsd:import namespace="2ead6ce8-8fe2-4ad4-ae4a-4efde8dbaf8b"/>
    <xsd:import namespace="2a2f9e5e-b040-4875-af04-823633d03e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ad6ce8-8fe2-4ad4-ae4a-4efde8dbaf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f9e5e-b040-4875-af04-823633d03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2f9e5e-b040-4875-af04-823633d03e65" xsi:nil="true"/>
  </documentManagement>
</p:properties>
</file>

<file path=customXml/itemProps1.xml><?xml version="1.0" encoding="utf-8"?>
<ds:datastoreItem xmlns:ds="http://schemas.openxmlformats.org/officeDocument/2006/customXml" ds:itemID="{88D016AF-E6F3-41DF-84B4-3FB21C5502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ad6ce8-8fe2-4ad4-ae4a-4efde8dbaf8b"/>
    <ds:schemaRef ds:uri="2a2f9e5e-b040-4875-af04-823633d03e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2229E4-76F2-4AE6-9552-EF638C782C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BAE40E-8B65-4D43-A8FF-B4E860F09047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2a2f9e5e-b040-4875-af04-823633d03e65"/>
    <ds:schemaRef ds:uri="2ead6ce8-8fe2-4ad4-ae4a-4efde8dbaf8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594</Words>
  <Application>Microsoft Office PowerPoint</Application>
  <PresentationFormat>On-screen Show (16:9)</PresentationFormat>
  <Paragraphs>81</Paragraphs>
  <Slides>28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Bebas Neue</vt:lpstr>
      <vt:lpstr>Inter</vt:lpstr>
      <vt:lpstr>Calibri</vt:lpstr>
      <vt:lpstr>Courier New</vt:lpstr>
      <vt:lpstr>Passion One</vt:lpstr>
      <vt:lpstr>Data Analysis and Statistics - 4th grade by Slidesgo</vt:lpstr>
      <vt:lpstr>Exploratory Data Analysis (EDA)</vt:lpstr>
      <vt:lpstr>Introduction</vt:lpstr>
      <vt:lpstr>Dataset Overview</vt:lpstr>
      <vt:lpstr>Data Types &amp; Missing Values</vt:lpstr>
      <vt:lpstr>Univariate Analysis</vt:lpstr>
      <vt:lpstr>Categorical Features</vt:lpstr>
      <vt:lpstr>Most features has a nearly uniform distribution</vt:lpstr>
      <vt:lpstr>Might need resampling to compensate the smaller values</vt:lpstr>
      <vt:lpstr>Visible treads in the number of rides each hour</vt:lpstr>
      <vt:lpstr>Passenger’s Count Distribution</vt:lpstr>
      <vt:lpstr>After replacing the outlier with 0</vt:lpstr>
      <vt:lpstr>Key Findings</vt:lpstr>
      <vt:lpstr>Numerical Features</vt:lpstr>
      <vt:lpstr>Distribution of Fares</vt:lpstr>
      <vt:lpstr>Negative Fares ???</vt:lpstr>
      <vt:lpstr>Distribution of Other features</vt:lpstr>
      <vt:lpstr>Key Findings</vt:lpstr>
      <vt:lpstr>Analysis with Target Feature</vt:lpstr>
      <vt:lpstr>Correlation HeatMap of the features</vt:lpstr>
      <vt:lpstr>Fare vs Distance and Traffic</vt:lpstr>
      <vt:lpstr>Fare Amount Over Time</vt:lpstr>
      <vt:lpstr>Peak fare hours</vt:lpstr>
      <vt:lpstr>Fare Amount over the time and week</vt:lpstr>
      <vt:lpstr>Bearing Affects Fare</vt:lpstr>
      <vt:lpstr>Number of people each hour</vt:lpstr>
      <vt:lpstr>No of rides and fare each Season</vt:lpstr>
      <vt:lpstr>Key Findings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Mohammed Yasser Mohammed ElShahat 2002085</cp:lastModifiedBy>
  <cp:revision>4</cp:revision>
  <dcterms:modified xsi:type="dcterms:W3CDTF">2025-02-27T20:25:32Z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0x01010097804F587C9E9248B5E8B8C156A4DAB1</vt:lpwstr>
  </property>
</Properties>
</file>