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3" r:id="rId4"/>
  </p:sldMasterIdLst>
  <p:notesMasterIdLst>
    <p:notesMasterId r:id="rId30"/>
  </p:notesMasterIdLst>
  <p:handoutMasterIdLst>
    <p:handoutMasterId r:id="rId31"/>
  </p:handoutMasterIdLst>
  <p:sldIdLst>
    <p:sldId id="276" r:id="rId5"/>
    <p:sldId id="257" r:id="rId6"/>
    <p:sldId id="281" r:id="rId7"/>
    <p:sldId id="297" r:id="rId8"/>
    <p:sldId id="299" r:id="rId9"/>
    <p:sldId id="300" r:id="rId10"/>
    <p:sldId id="301" r:id="rId11"/>
    <p:sldId id="279" r:id="rId12"/>
    <p:sldId id="302" r:id="rId13"/>
    <p:sldId id="319" r:id="rId14"/>
    <p:sldId id="310" r:id="rId15"/>
    <p:sldId id="303" r:id="rId16"/>
    <p:sldId id="320" r:id="rId17"/>
    <p:sldId id="304" r:id="rId18"/>
    <p:sldId id="305" r:id="rId19"/>
    <p:sldId id="306" r:id="rId20"/>
    <p:sldId id="307" r:id="rId21"/>
    <p:sldId id="308" r:id="rId22"/>
    <p:sldId id="309" r:id="rId23"/>
    <p:sldId id="311" r:id="rId24"/>
    <p:sldId id="312" r:id="rId25"/>
    <p:sldId id="313" r:id="rId26"/>
    <p:sldId id="314" r:id="rId27"/>
    <p:sldId id="315" r:id="rId28"/>
    <p:sldId id="29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6327" autoAdjust="0"/>
  </p:normalViewPr>
  <p:slideViewPr>
    <p:cSldViewPr snapToGrid="0">
      <p:cViewPr varScale="1">
        <p:scale>
          <a:sx n="78" d="100"/>
          <a:sy n="78" d="100"/>
        </p:scale>
        <p:origin x="989" y="72"/>
      </p:cViewPr>
      <p:guideLst>
        <p:guide orient="horz" pos="2928"/>
        <p:guide pos="3840"/>
      </p:guideLst>
    </p:cSldViewPr>
  </p:slideViewPr>
  <p:outlineViewPr>
    <p:cViewPr>
      <p:scale>
        <a:sx n="33" d="100"/>
        <a:sy n="33" d="100"/>
      </p:scale>
      <p:origin x="0" y="-51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33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022A2D-42FA-4553-8772-8DAE87B7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D895D-FAE0-4BCC-A867-FF4B70D9BF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8A188-91E3-4091-B70E-E1E6D807C522}" type="datetimeFigureOut">
              <a:rPr lang="en-US" smtClean="0"/>
              <a:t>2/28/2025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706EC-595E-4FD0-9EC4-968864CC9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99D8E-A980-43D3-BFB9-0812FFA36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EE72E-E5A5-44ED-A736-DB8D8EE9B4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02412-B176-4E06-823F-C66FEB3E21FB}" type="datetimeFigureOut">
              <a:rPr lang="en-US" smtClean="0"/>
              <a:t>2/28/2025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2FC2-A162-47B3-989B-571A624149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2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00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80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56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88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667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9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627619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6709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0877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2802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873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688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261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412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9318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5711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377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97100" y="1079500"/>
            <a:ext cx="7797799" cy="2543594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224D70-2CA9-3DC4-F002-EC470A48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8" name="Freeform: Shape 15">
              <a:extLst>
                <a:ext uri="{FF2B5EF4-FFF2-40B4-BE49-F238E27FC236}">
                  <a16:creationId xmlns:a16="http://schemas.microsoft.com/office/drawing/2014/main" id="{C0B1F33F-4201-2B4E-E8EC-1D07263083EB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ED5B178-0506-30BE-93BB-73C02006B988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0" name="Freeform: Shape 17">
                <a:extLst>
                  <a:ext uri="{FF2B5EF4-FFF2-40B4-BE49-F238E27FC236}">
                    <a16:creationId xmlns:a16="http://schemas.microsoft.com/office/drawing/2014/main" id="{B3F854F0-E9B7-2C32-CA3C-FA9719440768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8224CDA-DD93-0DF6-7DD9-8328D1606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FA5F65-B2C5-BB65-83E3-F195EEE49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409908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725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0C1D561-971B-43DB-A5A7-63A887A0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150" y="548640"/>
            <a:ext cx="5486400" cy="1371600"/>
          </a:xfrm>
        </p:spPr>
        <p:txBody>
          <a:bodyPr anchor="b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ACFD68-412E-48B4-B9EB-FEDC20A81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23391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0731E0-58E0-4382-ADA7-A9C6DE2E7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5149" y="2759076"/>
            <a:ext cx="5486399" cy="30098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1800"/>
            </a:lvl1pPr>
            <a:lvl2pPr>
              <a:lnSpc>
                <a:spcPct val="100000"/>
              </a:lnSpc>
              <a:spcBef>
                <a:spcPts val="1000"/>
              </a:spcBef>
              <a:defRPr sz="1800"/>
            </a:lvl2pPr>
            <a:lvl3pPr>
              <a:lnSpc>
                <a:spcPct val="100000"/>
              </a:lnSpc>
              <a:spcBef>
                <a:spcPts val="1000"/>
              </a:spcBef>
              <a:defRPr sz="16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>
              <a:lnSpc>
                <a:spcPct val="100000"/>
              </a:lnSpc>
              <a:spcBef>
                <a:spcPts val="1000"/>
              </a:spcBef>
              <a:defRPr sz="1800"/>
            </a:lvl5pPr>
            <a:lvl6pPr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defRPr sz="1600"/>
            </a:lvl6pPr>
            <a:lvl7pPr>
              <a:buClr>
                <a:schemeClr val="accent5"/>
              </a:buClr>
              <a:defRPr/>
            </a:lvl7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  <a:p>
            <a:pPr lvl="2"/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D67752-1F0B-4C84-BBA7-A57E279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4033A0-8E66-4ABA-9E27-744642AA9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8E05746-2784-43CF-84F7-0175BD65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B851CC3-3ED8-49E8-B8AC-6D79B036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6F0BC49-315A-CF7A-E741-A8688AF53E66}"/>
              </a:ext>
            </a:extLst>
          </p:cNvPr>
          <p:cNvGrpSpPr/>
          <p:nvPr userDrawn="1"/>
        </p:nvGrpSpPr>
        <p:grpSpPr>
          <a:xfrm>
            <a:off x="9728046" y="831278"/>
            <a:ext cx="1623711" cy="630920"/>
            <a:chOff x="9588346" y="4824892"/>
            <a:chExt cx="1623711" cy="630920"/>
          </a:xfrm>
        </p:grpSpPr>
        <p:sp>
          <p:nvSpPr>
            <p:cNvPr id="3" name="Freeform: Shape 15">
              <a:extLst>
                <a:ext uri="{FF2B5EF4-FFF2-40B4-BE49-F238E27FC236}">
                  <a16:creationId xmlns:a16="http://schemas.microsoft.com/office/drawing/2014/main" id="{3FCB73E1-B061-C75F-AB29-C27CA95E57A9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4A16F89-984C-DEA8-C894-E819A764661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5" name="Freeform: Shape 17">
                <a:extLst>
                  <a:ext uri="{FF2B5EF4-FFF2-40B4-BE49-F238E27FC236}">
                    <a16:creationId xmlns:a16="http://schemas.microsoft.com/office/drawing/2014/main" id="{0971E16B-8BBF-40B5-5862-FAAADBF530A0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1D464A1-0F6B-3CEE-8719-573F89E87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237773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D0C49A9B-EBDE-4047-884B-0860623D63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851" y="2165174"/>
            <a:ext cx="6118224" cy="1554480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99CD77F7-3095-4517-B300-DE93875DE5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29613" y="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F31ECFCC-4520-48AB-A8A1-AF9FC0C055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29200" y="228600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37" name="Picture Placeholder 31">
            <a:extLst>
              <a:ext uri="{FF2B5EF4-FFF2-40B4-BE49-F238E27FC236}">
                <a16:creationId xmlns:a16="http://schemas.microsoft.com/office/drawing/2014/main" id="{0FDBD13C-46E7-4BB9-957D-DE2A592552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29200" y="457200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B40728-32E0-44CE-8C68-1E68245C2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00874" y="4194521"/>
            <a:ext cx="1481845" cy="787628"/>
            <a:chOff x="4987925" y="2840038"/>
            <a:chExt cx="2216150" cy="117792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A6D99A-68F3-4E08-BB89-083CE0299CE2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B4F5556-21F4-4E26-9504-49ADE7D84749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E1118C-DFA4-410C-961C-BE0488441C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5A8ECE6-B3E3-4761-A6AD-711AF71EEA0D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B1F0E3F-4B5E-4F5B-93A6-CE1017521BF1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20599F0-ACFC-4223-A598-8FFAF21406AB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6703144-DA66-4EFB-B790-4E044756FF37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3371BE5-97EB-4365-8EDA-4C634155E79F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33C4D53-A668-4609-B338-E2D33C24A811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487C5A9-C4B3-4A68-8DFB-43F4CDB407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82E4A2F3-57A7-4529-A621-A36F1E777A4E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1482263E-6A78-46B7-8AB8-845C9C9103B4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C7B34F9-7954-4950-ABEA-DDBFF4A4C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900405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6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711243" y="2287435"/>
            <a:ext cx="8769514" cy="3768195"/>
          </a:xfrm>
        </p:spPr>
        <p:txBody>
          <a:bodyPr tIns="182880">
            <a:noAutofit/>
          </a:bodyPr>
          <a:lstStyle>
            <a:lvl1pPr marL="283464" indent="-283464">
              <a:lnSpc>
                <a:spcPct val="100000"/>
              </a:lnSpc>
              <a:spcBef>
                <a:spcPts val="1000"/>
              </a:spcBef>
              <a:defRPr sz="1800"/>
            </a:lvl1pPr>
            <a:lvl2pPr marL="283464">
              <a:lnSpc>
                <a:spcPct val="100000"/>
              </a:lnSpc>
              <a:spcBef>
                <a:spcPts val="1000"/>
              </a:spcBef>
              <a:defRPr sz="1800"/>
            </a:lvl2pPr>
            <a:lvl3pPr indent="-283464">
              <a:lnSpc>
                <a:spcPct val="100000"/>
              </a:lnSpc>
              <a:spcBef>
                <a:spcPts val="1000"/>
              </a:spcBef>
              <a:defRPr sz="18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 indent="-283464">
              <a:lnSpc>
                <a:spcPct val="1000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C7C83-D77B-1EFF-5877-DB5DF792E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279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80A73D-6706-8DB1-BAA5-9EC91EF6D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1677" y="548640"/>
            <a:ext cx="4663440" cy="1371600"/>
          </a:xfrm>
        </p:spPr>
        <p:txBody>
          <a:bodyPr wrap="square" anchor="b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A2E018F-B83F-5D9E-94F4-2B1C285CED1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8640" y="548640"/>
            <a:ext cx="5575300" cy="5656016"/>
          </a:xfrm>
        </p:spPr>
        <p:txBody>
          <a:bodyPr>
            <a:noAutofit/>
          </a:bodyPr>
          <a:lstStyle>
            <a:lvl1pPr marL="283464" indent="-283464">
              <a:spcBef>
                <a:spcPts val="500"/>
              </a:spcBef>
              <a:defRPr sz="1800"/>
            </a:lvl1pPr>
            <a:lvl2pPr marL="283464">
              <a:spcBef>
                <a:spcPts val="500"/>
              </a:spcBef>
              <a:defRPr sz="1800"/>
            </a:lvl2pPr>
            <a:lvl3pPr marL="685800" indent="-283464">
              <a:spcBef>
                <a:spcPts val="500"/>
              </a:spcBef>
              <a:defRPr sz="1800"/>
            </a:lvl3pPr>
            <a:lvl4pPr marL="685800">
              <a:spcBef>
                <a:spcPts val="500"/>
              </a:spcBef>
              <a:defRPr sz="1800"/>
            </a:lvl4pPr>
            <a:lvl5pPr marL="1143000" indent="-283464">
              <a:spcBef>
                <a:spcPts val="5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266A202-7CFD-8B3B-C33C-D85F06445EC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091676" y="2751236"/>
            <a:ext cx="4663440" cy="3453420"/>
          </a:xfrm>
        </p:spPr>
        <p:txBody>
          <a:bodyPr lIns="137160">
            <a:noAutofit/>
          </a:bodyPr>
          <a:lstStyle>
            <a:lvl1pPr marL="34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1pPr>
            <a:lvl2pPr marL="70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2pPr>
            <a:lvl3pPr marL="1139436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3pPr>
            <a:lvl4pPr marL="142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4pPr>
            <a:lvl5pPr marL="1859436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EFDB4E-BF6D-A408-5BC2-566CFAECD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6739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052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EF848A-75B5-49A0-A26E-E3931F22D9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26" y="539751"/>
            <a:ext cx="4451349" cy="2082226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D20A319-635D-423F-BBAC-55CDC17856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70326" y="4248000"/>
            <a:ext cx="4451349" cy="2082226"/>
          </a:xfrm>
        </p:spPr>
        <p:txBody>
          <a:bodyPr>
            <a:norm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AFB269-EE5A-41D3-BCD6-D9F59CE69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54952" y="3043393"/>
            <a:ext cx="1481845" cy="787628"/>
            <a:chOff x="4987925" y="2840038"/>
            <a:chExt cx="2216150" cy="11779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469245-EBD6-4BF4-B555-140F59F51604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9BCC58-7D38-43ED-B78C-2D780660AA2B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A8F2EBB-150B-4044-A215-E7B7EAD742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3CC0AD8-7413-4C81-9A62-702945CC3BE8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502799B-0C00-4D54-A631-1E79EAA52AFC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64E9F509-6627-4770-8A74-970F83C54B15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187A2A-8F72-40F1-B320-D3B624B54859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38DCBEB-9435-4A10-828C-CBFA74A08708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A8CE8E01-DABF-4783-A397-EDB1A91E2950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401896A-2EF5-4843-9DC5-ECC0D6F6A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B7C02DC-3E0A-45D2-859A-86EB5A3CF979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5170D8C-ECD3-41D1-83F4-8C2A4AEC277D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ADB4C03-0F86-4580-B0C9-48DD4B3B6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25304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415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9" r:id="rId15"/>
    <p:sldLayoutId id="2147483724" r:id="rId16"/>
    <p:sldLayoutId id="2147483726" r:id="rId1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19">
          <p15:clr>
            <a:srgbClr val="5ACBF0"/>
          </p15:clr>
        </p15:guide>
        <p15:guide id="2" pos="1731">
          <p15:clr>
            <a:srgbClr val="5ACBF0"/>
          </p15:clr>
        </p15:guide>
        <p15:guide id="3" pos="3140">
          <p15:clr>
            <a:srgbClr val="5ACBF0"/>
          </p15:clr>
        </p15:guide>
        <p15:guide id="4" pos="3488">
          <p15:clr>
            <a:srgbClr val="5ACBF0"/>
          </p15:clr>
        </p15:guide>
        <p15:guide id="5" pos="2788">
          <p15:clr>
            <a:srgbClr val="5ACBF0"/>
          </p15:clr>
        </p15:guide>
        <p15:guide id="6" pos="2434">
          <p15:clr>
            <a:srgbClr val="5ACBF0"/>
          </p15:clr>
        </p15:guide>
        <p15:guide id="7" pos="2084">
          <p15:clr>
            <a:srgbClr val="5ACBF0"/>
          </p15:clr>
        </p15:guide>
        <p15:guide id="8" pos="341">
          <p15:clr>
            <a:srgbClr val="F26B43"/>
          </p15:clr>
        </p15:guide>
        <p15:guide id="9" pos="1384">
          <p15:clr>
            <a:srgbClr val="5ACBF0"/>
          </p15:clr>
        </p15:guide>
        <p15:guide id="10" pos="1032">
          <p15:clr>
            <a:srgbClr val="5ACBF0"/>
          </p15:clr>
        </p15:guide>
        <p15:guide id="11" pos="680">
          <p15:clr>
            <a:srgbClr val="FDE53C"/>
          </p15:clr>
        </p15:guide>
        <p15:guide id="12" pos="4192">
          <p15:clr>
            <a:srgbClr val="5ACBF0"/>
          </p15:clr>
        </p15:guide>
        <p15:guide id="13" pos="4543">
          <p15:clr>
            <a:srgbClr val="5ACBF0"/>
          </p15:clr>
        </p15:guide>
        <p15:guide id="14" pos="4892">
          <p15:clr>
            <a:srgbClr val="5ACBF0"/>
          </p15:clr>
        </p15:guide>
        <p15:guide id="15" pos="5244">
          <p15:clr>
            <a:srgbClr val="5ACBF0"/>
          </p15:clr>
        </p15:guide>
        <p15:guide id="16" pos="5596">
          <p15:clr>
            <a:srgbClr val="5ACBF0"/>
          </p15:clr>
        </p15:guide>
        <p15:guide id="17" pos="5948">
          <p15:clr>
            <a:srgbClr val="5ACBF0"/>
          </p15:clr>
        </p15:guide>
        <p15:guide id="18" pos="6296">
          <p15:clr>
            <a:srgbClr val="5ACBF0"/>
          </p15:clr>
        </p15:guide>
        <p15:guide id="19" pos="6648">
          <p15:clr>
            <a:srgbClr val="5ACBF0"/>
          </p15:clr>
        </p15:guide>
        <p15:guide id="20" pos="6996">
          <p15:clr>
            <a:srgbClr val="FDE53C"/>
          </p15:clr>
        </p15:guide>
        <p15:guide id="21" orient="horz" pos="335">
          <p15:clr>
            <a:srgbClr val="F26B43"/>
          </p15:clr>
        </p15:guide>
        <p15:guide id="22" orient="horz" pos="680">
          <p15:clr>
            <a:srgbClr val="FDE53C"/>
          </p15:clr>
        </p15:guide>
        <p15:guide id="23" orient="horz" pos="1050">
          <p15:clr>
            <a:srgbClr val="5ACBF0"/>
          </p15:clr>
        </p15:guide>
        <p15:guide id="24" orient="horz" pos="1791">
          <p15:clr>
            <a:srgbClr val="5ACBF0"/>
          </p15:clr>
        </p15:guide>
        <p15:guide id="26" orient="horz" pos="2530">
          <p15:clr>
            <a:srgbClr val="5ACBF0"/>
          </p15:clr>
        </p15:guide>
        <p15:guide id="27" orient="horz" pos="2899">
          <p15:clr>
            <a:srgbClr val="5ACBF0"/>
          </p15:clr>
        </p15:guide>
        <p15:guide id="28" orient="horz" pos="3268">
          <p15:clr>
            <a:srgbClr val="5ACBF0"/>
          </p15:clr>
        </p15:guide>
        <p15:guide id="29" orient="horz" pos="3634">
          <p15:clr>
            <a:srgbClr val="FDE53C"/>
          </p15:clr>
        </p15:guide>
        <p15:guide id="30" orient="horz" pos="3979">
          <p15:clr>
            <a:srgbClr val="F26B43"/>
          </p15:clr>
        </p15:guide>
        <p15:guide id="31" orient="horz" pos="2160">
          <p15:clr>
            <a:srgbClr val="FDE53C"/>
          </p15:clr>
        </p15:guide>
        <p15:guide id="32" pos="7340">
          <p15:clr>
            <a:srgbClr val="F26B43"/>
          </p15:clr>
        </p15:guide>
        <p15:guide id="33" pos="3840">
          <p15:clr>
            <a:srgbClr val="FDE53C"/>
          </p15:clr>
        </p15:guide>
        <p15:guide id="34" orient="horz" pos="637">
          <p15:clr>
            <a:srgbClr val="C35EA4"/>
          </p15:clr>
        </p15:guide>
        <p15:guide id="35" orient="horz" pos="1128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81C4-F52E-F586-1465-77001CB91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8944" y="1079501"/>
            <a:ext cx="7797799" cy="2543594"/>
          </a:xfrm>
        </p:spPr>
        <p:txBody>
          <a:bodyPr>
            <a:normAutofit/>
          </a:bodyPr>
          <a:lstStyle/>
          <a:p>
            <a:r>
              <a:rPr lang="en-US" sz="4000"/>
              <a:t>TAXI RIDES APP</a:t>
            </a:r>
            <a:br>
              <a:rPr lang="en-US" sz="4000"/>
            </a:br>
            <a:r>
              <a:rPr lang="en-US" sz="4000"/>
              <a:t>ANALYSIS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9C2599-9551-6D6D-8730-A27CE4E3C141}"/>
              </a:ext>
            </a:extLst>
          </p:cNvPr>
          <p:cNvSpPr txBox="1"/>
          <p:nvPr/>
        </p:nvSpPr>
        <p:spPr>
          <a:xfrm>
            <a:off x="3888658" y="4109884"/>
            <a:ext cx="4414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latin typeface="+mj-lt"/>
              </a:rPr>
              <a:t>Abdulrahman Sherif</a:t>
            </a:r>
          </a:p>
        </p:txBody>
      </p:sp>
    </p:spTree>
    <p:extLst>
      <p:ext uri="{BB962C8B-B14F-4D97-AF65-F5344CB8AC3E}">
        <p14:creationId xmlns:p14="http://schemas.microsoft.com/office/powerpoint/2010/main" val="242061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14C0111-86AA-B377-753D-02A3CA89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3252AFB-1364-05E7-C423-89DB466ED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1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Overview : Eda process for Taxi rides app to understand  Fare Analysis , Temporal patterns and Geographical patterns </a:t>
            </a:r>
          </a:p>
          <a:p>
            <a:pPr marL="0" indent="0">
              <a:buNone/>
            </a:pPr>
            <a:endParaRPr lang="en-US" sz="2400" b="1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Objective : get insights about the factors that affect Fare amount </a:t>
            </a:r>
            <a:endParaRPr lang="en-US" sz="2400" b="1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68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27357"/>
            <a:ext cx="10058400" cy="1097280"/>
          </a:xfrm>
        </p:spPr>
        <p:txBody>
          <a:bodyPr/>
          <a:lstStyle/>
          <a:p>
            <a:r>
              <a:rPr lang="en-US"/>
              <a:t>EDA PROCESS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CCD2F-6960-1115-4E8A-99C450D747C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6245" y="1638505"/>
            <a:ext cx="10215715" cy="4683637"/>
          </a:xfrm>
        </p:spPr>
        <p:txBody>
          <a:bodyPr/>
          <a:lstStyle/>
          <a:p>
            <a:pPr marL="0" indent="0">
              <a:buNone/>
            </a:pPr>
            <a:r>
              <a:rPr lang="en-US" sz="2400" b="1"/>
              <a:t>1- </a:t>
            </a:r>
            <a:r>
              <a:rPr lang="en-US" sz="2400" b="1">
                <a:latin typeface="+mj-lt"/>
              </a:rPr>
              <a:t>Data preprocessing : </a:t>
            </a:r>
          </a:p>
          <a:p>
            <a:pPr>
              <a:buClr>
                <a:schemeClr val="tx1"/>
              </a:buClr>
            </a:pPr>
            <a:r>
              <a:rPr lang="en-US" sz="2000" b="1"/>
              <a:t> </a:t>
            </a:r>
            <a:r>
              <a:rPr lang="en-US" sz="2000" b="1">
                <a:latin typeface="+mj-lt"/>
              </a:rPr>
              <a:t>libraries used ( pandas , matplotlib , seaborn)</a:t>
            </a:r>
          </a:p>
          <a:p>
            <a:pPr>
              <a:buClr>
                <a:schemeClr val="tx1"/>
              </a:buClr>
            </a:pPr>
            <a:r>
              <a:rPr lang="en-US" sz="2000" b="1">
                <a:latin typeface="+mj-lt"/>
              </a:rPr>
              <a:t>Check missing values and duplicates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b="1">
                <a:latin typeface="+mj-lt"/>
              </a:rPr>
              <a:t>2- Expolartaroy analysis : </a:t>
            </a:r>
          </a:p>
          <a:p>
            <a:pPr>
              <a:buClr>
                <a:schemeClr val="tx1"/>
              </a:buClr>
            </a:pPr>
            <a:r>
              <a:rPr lang="en-US" sz="2000" b="1">
                <a:latin typeface="+mj-lt"/>
              </a:rPr>
              <a:t> statistics of numerical columns </a:t>
            </a:r>
          </a:p>
          <a:p>
            <a:pPr>
              <a:buClr>
                <a:schemeClr val="tx1"/>
              </a:buClr>
            </a:pPr>
            <a:r>
              <a:rPr lang="en-US" sz="2000" b="1">
                <a:latin typeface="+mj-lt"/>
              </a:rPr>
              <a:t>Distrubtion of categorical columns </a:t>
            </a:r>
          </a:p>
          <a:p>
            <a:pPr>
              <a:buClr>
                <a:schemeClr val="tx1"/>
              </a:buClr>
            </a:pPr>
            <a:r>
              <a:rPr lang="en-US" sz="2000" b="1">
                <a:latin typeface="+mj-lt"/>
              </a:rPr>
              <a:t>Impact of each column according to other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b="1">
                <a:latin typeface="+mj-lt"/>
              </a:rPr>
              <a:t>3- insights visualizations :</a:t>
            </a:r>
          </a:p>
          <a:p>
            <a:pPr>
              <a:buClr>
                <a:schemeClr val="tx1"/>
              </a:buClr>
            </a:pPr>
            <a:r>
              <a:rPr lang="en-US" sz="2000" b="1">
                <a:latin typeface="+mj-lt"/>
              </a:rPr>
              <a:t>Fare amounts</a:t>
            </a:r>
          </a:p>
          <a:p>
            <a:pPr>
              <a:buClr>
                <a:schemeClr val="tx1"/>
              </a:buClr>
            </a:pPr>
            <a:r>
              <a:rPr lang="en-US" sz="2000" b="1">
                <a:latin typeface="+mj-lt"/>
              </a:rPr>
              <a:t>Passenger count </a:t>
            </a:r>
          </a:p>
          <a:p>
            <a:pPr marL="0" indent="0">
              <a:buClr>
                <a:schemeClr val="tx1"/>
              </a:buClr>
              <a:buNone/>
            </a:pPr>
            <a:endParaRPr lang="en-US" sz="2000" b="1">
              <a:latin typeface="+mj-lt"/>
            </a:endParaRPr>
          </a:p>
          <a:p>
            <a:pPr marL="0" indent="0">
              <a:buClr>
                <a:schemeClr val="tx1"/>
              </a:buClr>
              <a:buNone/>
            </a:pPr>
            <a:endParaRPr lang="en-US" sz="20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9045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2A43-A135-E306-2FB5-19EDC6C6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53" y="1632646"/>
            <a:ext cx="4663440" cy="2231431"/>
          </a:xfrm>
        </p:spPr>
        <p:txBody>
          <a:bodyPr>
            <a:normAutofit/>
          </a:bodyPr>
          <a:lstStyle/>
          <a:p>
            <a:r>
              <a:rPr lang="en-US" sz="3600"/>
              <a:t>Read data &amp; preprocessing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E87F1F-ADE5-7F90-D97F-8253A36C8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298" y="501445"/>
            <a:ext cx="5262875" cy="34806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473E10-5434-27AC-6BEF-66AC9046E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298" y="4417980"/>
            <a:ext cx="4771263" cy="138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145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1C0CAB-6A03-4C6A-9FAA-21984775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82E0B2-AA9C-441C-A08E-A9DF9CF1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66737-867B-ADDD-64CB-28D1334B0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8" y="977093"/>
            <a:ext cx="4451349" cy="1910217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sz="3200"/>
              <a:t>Check missing values &amp; duplicates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9E013D9-9421-47E7-9080-30F6E544B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00275" y="2840038"/>
            <a:ext cx="2216150" cy="1177924"/>
            <a:chOff x="4987925" y="2840038"/>
            <a:chExt cx="2216150" cy="117792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09F7CF-3139-48B9-AF7B-9BD2941A8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5A838F8-C7B5-4988-81A9-B02E6C8F9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5B86A1A-402F-4AE2-B5E6-B8A5FB16C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4A0542D-9B1C-46B1-82B5-54470B697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3AFD408-F48C-4C50-8D5E-5DD6271799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C45F007-BD45-43C0-8579-5601F9CA78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7131E1B-CE62-4AB1-A2D9-02E823C9B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745E8D88-C0BB-4D1C-B240-D441BBA6F7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AAB960BE-12F5-4ADA-AA9E-0EC5425641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7E9BB9F7-7101-4BF3-9191-5893E4C582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D0710A9C-48A5-404F-9EC4-D486FCDFDA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5111EC00-4B3D-478C-AD25-F35644013E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350412DA-ED08-4AFA-AED3-DFB42655D4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8036B80B-269D-4F02-9EF9-A6A4E917B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BEF73D-AC6A-E23C-9992-DFAF2709C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872" y="173653"/>
            <a:ext cx="2649443" cy="3844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C62777-B54B-EA34-D51A-6D47D67C3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544" y="173652"/>
            <a:ext cx="2502798" cy="38443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9D3FFC-8784-F2A7-439D-18CEE01A5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031" y="4627420"/>
            <a:ext cx="2221922" cy="115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10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1C0CAB-6A03-4C6A-9FAA-21984775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82E0B2-AA9C-441C-A08E-A9DF9CF1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22314F7-656D-4F4F-8050-CCD6FC0FC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6F205-14A3-1C5E-EF64-E39A20C64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10" y="531814"/>
            <a:ext cx="4457690" cy="1720850"/>
          </a:xfr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/>
              <a:t>Statistical summary of numerical data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E97E5C-7A5F-424E-AAE4-654396E9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1392239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550DC60-60A1-F9DA-1A04-1997C0EDA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84" y="2135312"/>
            <a:ext cx="11300830" cy="2263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FF0CFE-822C-7877-D5AE-6B3897893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84" y="4467402"/>
            <a:ext cx="11372790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39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01C0CAB-6A03-4C6A-9FAA-21984775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982E0B2-AA9C-441C-A08E-A9DF9CF1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7A8B0-DCC6-D443-547B-39E1556B1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6050" y="1079500"/>
            <a:ext cx="3884962" cy="2138400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Correlation heatmap 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8531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C9CA36F-C64C-4D66-010C-D92BC0F23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95" y="188950"/>
            <a:ext cx="7202659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152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CF7FA-557B-82FA-0B3B-B29A88184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82509" y="117986"/>
            <a:ext cx="4734845" cy="1081549"/>
          </a:xfrm>
        </p:spPr>
        <p:txBody>
          <a:bodyPr/>
          <a:lstStyle/>
          <a:p>
            <a:r>
              <a:rPr lang="en-US" sz="2400"/>
              <a:t>Distrbution of categorical data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59084-0705-9ED3-F5E1-80FA178E2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15" y="1351014"/>
            <a:ext cx="3884202" cy="22475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834A25-81D4-573E-7302-51821947E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8039" y="1351014"/>
            <a:ext cx="3519948" cy="22475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45EA89-B350-0E69-E654-0CBABC2EF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309" y="1351014"/>
            <a:ext cx="3835042" cy="22475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9E16DD-1F73-059F-BB9F-524E694FC9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514" y="3750086"/>
            <a:ext cx="3884203" cy="27785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BB4D0D-2256-43EB-F559-91BA3FD3D5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8040" y="3750086"/>
            <a:ext cx="3519948" cy="27785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ADEB03-4B95-DC88-45AB-7517BF3B2B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6309" y="3750085"/>
            <a:ext cx="3835042" cy="277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47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1C0CAB-6A03-4C6A-9FAA-21984775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82E0B2-AA9C-441C-A08E-A9DF9CF1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3E4A2-3DA3-9A36-6F38-1105BF508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6050" y="1079499"/>
            <a:ext cx="3884962" cy="2291275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Weather conditions distribution</a:t>
            </a: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6828D311-B582-473B-A71A-00BAEFDDF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443748" y="443198"/>
            <a:ext cx="6660000" cy="5760000"/>
          </a:xfrm>
          <a:custGeom>
            <a:avLst/>
            <a:gdLst>
              <a:gd name="connsiteX0" fmla="*/ 0 w 6660000"/>
              <a:gd name="connsiteY0" fmla="*/ 0 h 5760000"/>
              <a:gd name="connsiteX1" fmla="*/ 6660000 w 6660000"/>
              <a:gd name="connsiteY1" fmla="*/ 0 h 5760000"/>
              <a:gd name="connsiteX2" fmla="*/ 6660000 w 6660000"/>
              <a:gd name="connsiteY2" fmla="*/ 5760000 h 5760000"/>
              <a:gd name="connsiteX3" fmla="*/ 0 w 6660000"/>
              <a:gd name="connsiteY3" fmla="*/ 5760000 h 5760000"/>
              <a:gd name="connsiteX4" fmla="*/ 0 w 6660000"/>
              <a:gd name="connsiteY4" fmla="*/ 0 h 5760000"/>
              <a:gd name="connsiteX0" fmla="*/ 6660000 w 6751440"/>
              <a:gd name="connsiteY0" fmla="*/ 0 h 5760000"/>
              <a:gd name="connsiteX1" fmla="*/ 6660000 w 6751440"/>
              <a:gd name="connsiteY1" fmla="*/ 5760000 h 5760000"/>
              <a:gd name="connsiteX2" fmla="*/ 0 w 6751440"/>
              <a:gd name="connsiteY2" fmla="*/ 5760000 h 5760000"/>
              <a:gd name="connsiteX3" fmla="*/ 0 w 6751440"/>
              <a:gd name="connsiteY3" fmla="*/ 0 h 5760000"/>
              <a:gd name="connsiteX4" fmla="*/ 6751440 w 6751440"/>
              <a:gd name="connsiteY4" fmla="*/ 91440 h 5760000"/>
              <a:gd name="connsiteX0" fmla="*/ 6660000 w 6660000"/>
              <a:gd name="connsiteY0" fmla="*/ 0 h 5760000"/>
              <a:gd name="connsiteX1" fmla="*/ 6660000 w 6660000"/>
              <a:gd name="connsiteY1" fmla="*/ 5760000 h 5760000"/>
              <a:gd name="connsiteX2" fmla="*/ 0 w 6660000"/>
              <a:gd name="connsiteY2" fmla="*/ 5760000 h 5760000"/>
              <a:gd name="connsiteX3" fmla="*/ 0 w 6660000"/>
              <a:gd name="connsiteY3" fmla="*/ 0 h 5760000"/>
              <a:gd name="connsiteX4" fmla="*/ 5068690 w 6660000"/>
              <a:gd name="connsiteY4" fmla="*/ 224790 h 5760000"/>
              <a:gd name="connsiteX0" fmla="*/ 6660000 w 6660000"/>
              <a:gd name="connsiteY0" fmla="*/ 0 h 5760000"/>
              <a:gd name="connsiteX1" fmla="*/ 6660000 w 6660000"/>
              <a:gd name="connsiteY1" fmla="*/ 5760000 h 5760000"/>
              <a:gd name="connsiteX2" fmla="*/ 0 w 6660000"/>
              <a:gd name="connsiteY2" fmla="*/ 5760000 h 5760000"/>
              <a:gd name="connsiteX3" fmla="*/ 0 w 6660000"/>
              <a:gd name="connsiteY3" fmla="*/ 0 h 5760000"/>
              <a:gd name="connsiteX0" fmla="*/ 6660000 w 6660000"/>
              <a:gd name="connsiteY0" fmla="*/ 5760000 h 5760000"/>
              <a:gd name="connsiteX1" fmla="*/ 0 w 6660000"/>
              <a:gd name="connsiteY1" fmla="*/ 5760000 h 5760000"/>
              <a:gd name="connsiteX2" fmla="*/ 0 w 6660000"/>
              <a:gd name="connsiteY2" fmla="*/ 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60000" h="5760000">
                <a:moveTo>
                  <a:pt x="6660000" y="5760000"/>
                </a:moveTo>
                <a:lnTo>
                  <a:pt x="0" y="576000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E7C23BC-DAA6-40E1-8166-B8C4439D1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8531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5">
            <a:extLst>
              <a:ext uri="{FF2B5EF4-FFF2-40B4-BE49-F238E27FC236}">
                <a16:creationId xmlns:a16="http://schemas.microsoft.com/office/drawing/2014/main" id="{950B4532-90B0-4F38-8B86-C84A0416E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443748" y="6203198"/>
            <a:ext cx="6660000" cy="0"/>
          </a:xfrm>
          <a:custGeom>
            <a:avLst/>
            <a:gdLst>
              <a:gd name="connsiteX0" fmla="*/ 0 w 6660000"/>
              <a:gd name="connsiteY0" fmla="*/ 0 h 5760000"/>
              <a:gd name="connsiteX1" fmla="*/ 6660000 w 6660000"/>
              <a:gd name="connsiteY1" fmla="*/ 0 h 5760000"/>
              <a:gd name="connsiteX2" fmla="*/ 6660000 w 6660000"/>
              <a:gd name="connsiteY2" fmla="*/ 5760000 h 5760000"/>
              <a:gd name="connsiteX3" fmla="*/ 0 w 6660000"/>
              <a:gd name="connsiteY3" fmla="*/ 5760000 h 5760000"/>
              <a:gd name="connsiteX4" fmla="*/ 0 w 6660000"/>
              <a:gd name="connsiteY4" fmla="*/ 0 h 5760000"/>
              <a:gd name="connsiteX0" fmla="*/ 6660000 w 6751440"/>
              <a:gd name="connsiteY0" fmla="*/ 0 h 5760000"/>
              <a:gd name="connsiteX1" fmla="*/ 6660000 w 6751440"/>
              <a:gd name="connsiteY1" fmla="*/ 5760000 h 5760000"/>
              <a:gd name="connsiteX2" fmla="*/ 0 w 6751440"/>
              <a:gd name="connsiteY2" fmla="*/ 5760000 h 5760000"/>
              <a:gd name="connsiteX3" fmla="*/ 0 w 6751440"/>
              <a:gd name="connsiteY3" fmla="*/ 0 h 5760000"/>
              <a:gd name="connsiteX4" fmla="*/ 6751440 w 6751440"/>
              <a:gd name="connsiteY4" fmla="*/ 91440 h 5760000"/>
              <a:gd name="connsiteX0" fmla="*/ 6660000 w 6660000"/>
              <a:gd name="connsiteY0" fmla="*/ 0 h 5760000"/>
              <a:gd name="connsiteX1" fmla="*/ 6660000 w 6660000"/>
              <a:gd name="connsiteY1" fmla="*/ 5760000 h 5760000"/>
              <a:gd name="connsiteX2" fmla="*/ 0 w 6660000"/>
              <a:gd name="connsiteY2" fmla="*/ 5760000 h 5760000"/>
              <a:gd name="connsiteX3" fmla="*/ 0 w 6660000"/>
              <a:gd name="connsiteY3" fmla="*/ 0 h 5760000"/>
              <a:gd name="connsiteX4" fmla="*/ 5068690 w 6660000"/>
              <a:gd name="connsiteY4" fmla="*/ 224790 h 5760000"/>
              <a:gd name="connsiteX0" fmla="*/ 6660000 w 6660000"/>
              <a:gd name="connsiteY0" fmla="*/ 0 h 5760000"/>
              <a:gd name="connsiteX1" fmla="*/ 6660000 w 6660000"/>
              <a:gd name="connsiteY1" fmla="*/ 5760000 h 5760000"/>
              <a:gd name="connsiteX2" fmla="*/ 0 w 6660000"/>
              <a:gd name="connsiteY2" fmla="*/ 5760000 h 5760000"/>
              <a:gd name="connsiteX3" fmla="*/ 0 w 6660000"/>
              <a:gd name="connsiteY3" fmla="*/ 0 h 5760000"/>
              <a:gd name="connsiteX0" fmla="*/ 6660000 w 6660000"/>
              <a:gd name="connsiteY0" fmla="*/ 5760000 h 5760000"/>
              <a:gd name="connsiteX1" fmla="*/ 0 w 6660000"/>
              <a:gd name="connsiteY1" fmla="*/ 5760000 h 5760000"/>
              <a:gd name="connsiteX2" fmla="*/ 0 w 6660000"/>
              <a:gd name="connsiteY2" fmla="*/ 0 h 5760000"/>
              <a:gd name="connsiteX0" fmla="*/ 6660000 w 6660000"/>
              <a:gd name="connsiteY0" fmla="*/ 0 h 0"/>
              <a:gd name="connsiteX1" fmla="*/ 0 w 6660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660000">
                <a:moveTo>
                  <a:pt x="6660000" y="0"/>
                </a:moveTo>
                <a:lnTo>
                  <a:pt x="0" y="0"/>
                </a:lnTo>
              </a:path>
            </a:pathLst>
          </a:custGeom>
          <a:solidFill>
            <a:schemeClr val="tx2">
              <a:alpha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5B28FD85-59C0-44FE-822A-75F0E9D2E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7103748" y="443198"/>
            <a:ext cx="0" cy="5760000"/>
          </a:xfrm>
          <a:custGeom>
            <a:avLst/>
            <a:gdLst>
              <a:gd name="connsiteX0" fmla="*/ 0 w 6660000"/>
              <a:gd name="connsiteY0" fmla="*/ 0 h 5760000"/>
              <a:gd name="connsiteX1" fmla="*/ 6660000 w 6660000"/>
              <a:gd name="connsiteY1" fmla="*/ 0 h 5760000"/>
              <a:gd name="connsiteX2" fmla="*/ 6660000 w 6660000"/>
              <a:gd name="connsiteY2" fmla="*/ 5760000 h 5760000"/>
              <a:gd name="connsiteX3" fmla="*/ 0 w 6660000"/>
              <a:gd name="connsiteY3" fmla="*/ 5760000 h 5760000"/>
              <a:gd name="connsiteX4" fmla="*/ 0 w 6660000"/>
              <a:gd name="connsiteY4" fmla="*/ 0 h 5760000"/>
              <a:gd name="connsiteX0" fmla="*/ 6660000 w 6751440"/>
              <a:gd name="connsiteY0" fmla="*/ 0 h 5760000"/>
              <a:gd name="connsiteX1" fmla="*/ 6660000 w 6751440"/>
              <a:gd name="connsiteY1" fmla="*/ 5760000 h 5760000"/>
              <a:gd name="connsiteX2" fmla="*/ 0 w 6751440"/>
              <a:gd name="connsiteY2" fmla="*/ 5760000 h 5760000"/>
              <a:gd name="connsiteX3" fmla="*/ 0 w 6751440"/>
              <a:gd name="connsiteY3" fmla="*/ 0 h 5760000"/>
              <a:gd name="connsiteX4" fmla="*/ 6751440 w 6751440"/>
              <a:gd name="connsiteY4" fmla="*/ 91440 h 5760000"/>
              <a:gd name="connsiteX0" fmla="*/ 6660000 w 6660000"/>
              <a:gd name="connsiteY0" fmla="*/ 0 h 5760000"/>
              <a:gd name="connsiteX1" fmla="*/ 6660000 w 6660000"/>
              <a:gd name="connsiteY1" fmla="*/ 5760000 h 5760000"/>
              <a:gd name="connsiteX2" fmla="*/ 0 w 6660000"/>
              <a:gd name="connsiteY2" fmla="*/ 5760000 h 5760000"/>
              <a:gd name="connsiteX3" fmla="*/ 0 w 6660000"/>
              <a:gd name="connsiteY3" fmla="*/ 0 h 5760000"/>
              <a:gd name="connsiteX4" fmla="*/ 5068690 w 6660000"/>
              <a:gd name="connsiteY4" fmla="*/ 224790 h 5760000"/>
              <a:gd name="connsiteX0" fmla="*/ 6660000 w 6660000"/>
              <a:gd name="connsiteY0" fmla="*/ 0 h 5760000"/>
              <a:gd name="connsiteX1" fmla="*/ 6660000 w 6660000"/>
              <a:gd name="connsiteY1" fmla="*/ 5760000 h 5760000"/>
              <a:gd name="connsiteX2" fmla="*/ 0 w 6660000"/>
              <a:gd name="connsiteY2" fmla="*/ 5760000 h 5760000"/>
              <a:gd name="connsiteX3" fmla="*/ 0 w 6660000"/>
              <a:gd name="connsiteY3" fmla="*/ 0 h 5760000"/>
              <a:gd name="connsiteX0" fmla="*/ 6660000 w 6660000"/>
              <a:gd name="connsiteY0" fmla="*/ 5760000 h 5760000"/>
              <a:gd name="connsiteX1" fmla="*/ 0 w 6660000"/>
              <a:gd name="connsiteY1" fmla="*/ 5760000 h 5760000"/>
              <a:gd name="connsiteX2" fmla="*/ 0 w 6660000"/>
              <a:gd name="connsiteY2" fmla="*/ 0 h 5760000"/>
              <a:gd name="connsiteX0" fmla="*/ 0 w 0"/>
              <a:gd name="connsiteY0" fmla="*/ 5760000 h 5760000"/>
              <a:gd name="connsiteX1" fmla="*/ 0 w 0"/>
              <a:gd name="connsiteY1" fmla="*/ 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5760000">
                <a:moveTo>
                  <a:pt x="0" y="5760000"/>
                </a:moveTo>
                <a:lnTo>
                  <a:pt x="0" y="0"/>
                </a:lnTo>
              </a:path>
            </a:pathLst>
          </a:custGeom>
          <a:solidFill>
            <a:schemeClr val="tx2">
              <a:alpha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72FE4D-C215-81E0-2035-8746BB6A5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48" y="455286"/>
            <a:ext cx="6659999" cy="574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6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60499-9548-AFA8-6B4A-DE1A022D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06" y="2534756"/>
            <a:ext cx="4736529" cy="1437476"/>
          </a:xfrm>
        </p:spPr>
        <p:txBody>
          <a:bodyPr>
            <a:normAutofit fontScale="90000"/>
          </a:bodyPr>
          <a:lstStyle/>
          <a:p>
            <a:r>
              <a:rPr lang="en-US" sz="3200"/>
              <a:t>Average distance according to place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60FA57-3D08-BBA2-DBAE-110E7081D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87" y="619125"/>
            <a:ext cx="6469625" cy="538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53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01C0CAB-6A03-4C6A-9FAA-21984775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2E0B2-AA9C-441C-A08E-A9DF9CF1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22314F7-656D-4F4F-8050-CCD6FC0FC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89F831-E98F-B854-6551-2EFC273FF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376" y="138524"/>
            <a:ext cx="4457690" cy="1720850"/>
          </a:xfr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/>
              <a:t>FARE amount analysis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E97E5C-7A5F-424E-AAE4-654396E9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1392239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7978938-2A8F-3AB7-AF65-A06C1A987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57" y="1533817"/>
            <a:ext cx="4032776" cy="22868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330C76-E97E-6AC1-D0B1-A0B9119A6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564" y="1533817"/>
            <a:ext cx="3961104" cy="22868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0EF655-4C83-3CC7-1D17-C03D92CF8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17" y="4126515"/>
            <a:ext cx="5491510" cy="24256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012A9A-F040-7DC4-92FA-24D87EC0D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126515"/>
            <a:ext cx="5541883" cy="24256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4666A6-5FA1-E4A1-64AE-2D8B50DD4C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198" y="1533817"/>
            <a:ext cx="3716425" cy="228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554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6F93-08FE-477F-51BB-27898EFDB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008" y="2387272"/>
            <a:ext cx="4663440" cy="1371600"/>
          </a:xfrm>
        </p:spPr>
        <p:txBody>
          <a:bodyPr/>
          <a:lstStyle/>
          <a:p>
            <a:r>
              <a:rPr lang="en-US"/>
              <a:t>Fare amount according to hour of the day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3E9B32-D7D1-D240-4406-346EBFC22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110" y="875071"/>
            <a:ext cx="6980903" cy="528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500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A0CD-28E2-40F3-EBE4-2E2FD7A37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77" y="159395"/>
            <a:ext cx="4587362" cy="1226954"/>
          </a:xfrm>
        </p:spPr>
        <p:txBody>
          <a:bodyPr/>
          <a:lstStyle/>
          <a:p>
            <a:r>
              <a:rPr lang="en-US"/>
              <a:t>Passenger count in one car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1D4A44-350E-A6FC-C9FB-FBDD45C19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77" y="1395474"/>
            <a:ext cx="5855723" cy="2454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82CA43-220A-69E4-A89C-1A1F675F7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715" y="1386349"/>
            <a:ext cx="5515897" cy="24638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6FBF46-B1F5-5E42-6F98-E741F10D9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77" y="3982065"/>
            <a:ext cx="11518335" cy="271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202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04E73-2F5E-C064-2B1E-3FC90A01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93" y="2220123"/>
            <a:ext cx="4884015" cy="1476805"/>
          </a:xfrm>
        </p:spPr>
        <p:txBody>
          <a:bodyPr>
            <a:noAutofit/>
          </a:bodyPr>
          <a:lstStyle/>
          <a:p>
            <a:r>
              <a:rPr lang="en-US" sz="3600"/>
              <a:t>User</a:t>
            </a:r>
            <a:br>
              <a:rPr lang="en-US" sz="3600"/>
            </a:br>
            <a:r>
              <a:rPr lang="en-US" sz="3600"/>
              <a:t> loyalty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D2DC89-05D1-E3CA-3E34-1F6F1C331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055" y="201561"/>
            <a:ext cx="6426851" cy="3227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3A5CAC-95D0-58D1-5B68-DA7D859E2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055" y="3529782"/>
            <a:ext cx="6426851" cy="312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55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7EE7-5CEA-6525-8B64-2492326CF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86" y="2564252"/>
            <a:ext cx="4663440" cy="1371600"/>
          </a:xfrm>
        </p:spPr>
        <p:txBody>
          <a:bodyPr/>
          <a:lstStyle/>
          <a:p>
            <a:r>
              <a:rPr lang="en-US"/>
              <a:t>Top drivers according to Earnings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172D9-DE43-52F0-BF6D-F3C65C192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626" y="823451"/>
            <a:ext cx="7049729" cy="521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519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D2A3A-2AB8-BD37-3E9B-A0C2EBD4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521" y="2487264"/>
            <a:ext cx="4663440" cy="1371600"/>
          </a:xfrm>
        </p:spPr>
        <p:txBody>
          <a:bodyPr>
            <a:noAutofit/>
          </a:bodyPr>
          <a:lstStyle/>
          <a:p>
            <a:r>
              <a:rPr lang="en-US" sz="3200"/>
              <a:t>Top drivers according to number of trips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965FC2-E715-28EA-8BC4-ADD3ACBBB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093" y="943897"/>
            <a:ext cx="6693760" cy="478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36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AC03D-5A25-E741-0578-BF0AD0B3A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950" y="2424805"/>
            <a:ext cx="4663440" cy="1371600"/>
          </a:xfrm>
        </p:spPr>
        <p:txBody>
          <a:bodyPr>
            <a:normAutofit/>
          </a:bodyPr>
          <a:lstStyle/>
          <a:p>
            <a:r>
              <a:rPr lang="en-US"/>
              <a:t>Weather impact on distance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05FE6A-F8B3-B055-0FD7-6A660873A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103" y="619125"/>
            <a:ext cx="6892413" cy="554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057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8CAE-CF30-6066-AA00-344AFAD60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70" y="2477729"/>
            <a:ext cx="5218310" cy="1660920"/>
          </a:xfrm>
        </p:spPr>
        <p:txBody>
          <a:bodyPr>
            <a:noAutofit/>
          </a:bodyPr>
          <a:lstStyle/>
          <a:p>
            <a:r>
              <a:rPr lang="en-US"/>
              <a:t>Traffic according to time of the day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85FE06-76A7-B125-5449-6DB18F821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379" y="894735"/>
            <a:ext cx="6400801" cy="486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73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01C0CAB-6A03-4C6A-9FAA-21984775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982E0B2-AA9C-441C-A08E-A9DF9CF1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8A792-8D90-0275-10BF-9F032233B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883" y="1051474"/>
            <a:ext cx="4451349" cy="1532951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sz="2600"/>
              <a:t>Distance according to car condition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9E013D9-9421-47E7-9080-30F6E544B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00275" y="2840038"/>
            <a:ext cx="2216150" cy="1177924"/>
            <a:chOff x="4987925" y="2840038"/>
            <a:chExt cx="2216150" cy="117792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09F7CF-3139-48B9-AF7B-9BD2941A8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5A838F8-C7B5-4988-81A9-B02E6C8F9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5B86A1A-402F-4AE2-B5E6-B8A5FB16C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4A0542D-9B1C-46B1-82B5-54470B697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3AFD408-F48C-4C50-8D5E-5DD6271799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C45F007-BD45-43C0-8579-5601F9CA78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7131E1B-CE62-4AB1-A2D9-02E823C9B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745E8D88-C0BB-4D1C-B240-D441BBA6F7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AAB960BE-12F5-4ADA-AA9E-0EC5425641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7E9BB9F7-7101-4BF3-9191-5893E4C582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D0710A9C-48A5-404F-9EC4-D486FCDFDA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5111EC00-4B3D-478C-AD25-F35644013E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350412DA-ED08-4AFA-AED3-DFB42655D4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8036B80B-269D-4F02-9EF9-A6A4E917B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76D91-7582-5D82-E856-C84F68CAA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987" y="570272"/>
            <a:ext cx="6191026" cy="506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18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330D8-97ED-225D-3005-D7DE4F6BA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20" y="2595716"/>
            <a:ext cx="5159316" cy="1465006"/>
          </a:xfrm>
        </p:spPr>
        <p:txBody>
          <a:bodyPr>
            <a:noAutofit/>
          </a:bodyPr>
          <a:lstStyle/>
          <a:p>
            <a:r>
              <a:rPr lang="en-US"/>
              <a:t>Airport trips fare vs non-airport trips fare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E6816B-4CF0-195B-4A8F-B5DF350FB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736" y="884903"/>
            <a:ext cx="6534150" cy="508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80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0876-CFAB-E64A-9E22-B4F42234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087" y="2743200"/>
            <a:ext cx="4663440" cy="1371600"/>
          </a:xfrm>
        </p:spPr>
        <p:txBody>
          <a:bodyPr>
            <a:normAutofit/>
          </a:bodyPr>
          <a:lstStyle/>
          <a:p>
            <a:r>
              <a:rPr lang="en-US" sz="3200"/>
              <a:t>Number of trips to each airport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16430-28A6-0F89-1A03-7E6B913E8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831" y="784122"/>
            <a:ext cx="6101202" cy="528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80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82E1-6DED-4ED1-B69A-A65F143EF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212" y="2839556"/>
            <a:ext cx="4663440" cy="1371600"/>
          </a:xfrm>
        </p:spPr>
        <p:txBody>
          <a:bodyPr>
            <a:noAutofit/>
          </a:bodyPr>
          <a:lstStyle/>
          <a:p>
            <a:r>
              <a:rPr lang="en-US" sz="3200"/>
              <a:t>Most direction that have number of trips to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355B4-C5B6-DB72-AF7B-9EF53EDAD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896" y="1190625"/>
            <a:ext cx="6518788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85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95A19-94E0-5480-7D6B-AD192D104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58" y="2406937"/>
            <a:ext cx="4663440" cy="1371600"/>
          </a:xfrm>
        </p:spPr>
        <p:txBody>
          <a:bodyPr>
            <a:normAutofit fontScale="90000"/>
          </a:bodyPr>
          <a:lstStyle/>
          <a:p>
            <a:r>
              <a:rPr lang="en-US" sz="3200"/>
              <a:t>Average fare according to direction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0624DE-C99A-A267-A600-3030065F2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071" y="1190625"/>
            <a:ext cx="6558116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96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E861A-A72F-3D7F-C129-2CFEEB7A4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15" y="2743200"/>
            <a:ext cx="4667704" cy="1371600"/>
          </a:xfrm>
        </p:spPr>
        <p:txBody>
          <a:bodyPr>
            <a:normAutofit fontScale="90000"/>
          </a:bodyPr>
          <a:lstStyle/>
          <a:p>
            <a:r>
              <a:rPr lang="en-US"/>
              <a:t>Average fare according to distance to</a:t>
            </a:r>
            <a:br>
              <a:rPr lang="en-US"/>
            </a:br>
            <a:r>
              <a:rPr lang="en-US"/>
              <a:t> newyork city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07EE62-24C4-866A-327D-B0B0DAFE9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890" y="1095375"/>
            <a:ext cx="6361471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65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52CD-4C4C-9E44-BE9B-72AB9835E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84793955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021420E-D6CD-4398-9C5C-03FBF68874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0C3F92-C0AD-4E73-8A22-9D413A456B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5126FD-8B44-46F3-BEB2-D5456E76919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{FF71EB6C-3C63-4DC2-8938-289553FB4F97}tf22339732_win32</Template>
  <TotalTime>323</TotalTime>
  <Words>207</Words>
  <Application>Microsoft Office PowerPoint</Application>
  <PresentationFormat>Widescreen</PresentationFormat>
  <Paragraphs>45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Avenir Next LT Pro Light</vt:lpstr>
      <vt:lpstr>Calibri</vt:lpstr>
      <vt:lpstr>Rockwell Nova Light</vt:lpstr>
      <vt:lpstr>Wingdings</vt:lpstr>
      <vt:lpstr>LeafVTI</vt:lpstr>
      <vt:lpstr>TAXI RIDES APP ANALYSIS</vt:lpstr>
      <vt:lpstr>Introduction</vt:lpstr>
      <vt:lpstr>EDA PROCESS</vt:lpstr>
      <vt:lpstr>Read data &amp; preprocessing</vt:lpstr>
      <vt:lpstr>Check missing values &amp; duplicates </vt:lpstr>
      <vt:lpstr>Statistical summary of numerical data </vt:lpstr>
      <vt:lpstr>Correlation heatmap </vt:lpstr>
      <vt:lpstr>Distrbution of categorical data</vt:lpstr>
      <vt:lpstr>Weather conditions distribution</vt:lpstr>
      <vt:lpstr>Average distance according to place </vt:lpstr>
      <vt:lpstr>FARE amount analysis</vt:lpstr>
      <vt:lpstr>Fare amount according to hour of the day</vt:lpstr>
      <vt:lpstr>Passenger count in one car analysis</vt:lpstr>
      <vt:lpstr>User  loyalty </vt:lpstr>
      <vt:lpstr>Top drivers according to Earnings</vt:lpstr>
      <vt:lpstr>Top drivers according to number of trips</vt:lpstr>
      <vt:lpstr>Weather impact on distance </vt:lpstr>
      <vt:lpstr>Traffic according to time of the day</vt:lpstr>
      <vt:lpstr>Distance according to car condition </vt:lpstr>
      <vt:lpstr>Airport trips fare vs non-airport trips fare</vt:lpstr>
      <vt:lpstr>Number of trips to each airport </vt:lpstr>
      <vt:lpstr>Most direction that have number of trips to </vt:lpstr>
      <vt:lpstr>Average fare according to direction </vt:lpstr>
      <vt:lpstr>Average fare according to distance to  newyork city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Abdulrahman Sherif Abdelaziz Mahmoud 21P0098</dc:creator>
  <cp:lastModifiedBy>Abdulrahman Sherif Abdelaziz Mahmoud 21P0098</cp:lastModifiedBy>
  <cp:revision>4</cp:revision>
  <dcterms:created xsi:type="dcterms:W3CDTF">2025-02-05T15:43:43Z</dcterms:created>
  <dcterms:modified xsi:type="dcterms:W3CDTF">2025-02-28T13:38:03Z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